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32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ё᠑ӣ CMS ೱ่؂В୔໔ी৲ מೌЎҹ</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໸چ೽</a:t>
            </a:r>
          </a:p>
          <a:p>
            <a:pPr/>
            <a:r>
              <a:rPr sz="2400" b="1">
                <a:solidFill>
                  <a:srgbClr val="323232"/>
                </a:solidFill>
                <a:latin typeface="微軟正黑體"/>
              </a:rPr>
              <a:t>܍ᒤΓ঩Ǻ໳੏ଈ</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Ҟᒵ</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˰怆⡆✳⎗⍾㴰⇑䌯Ṍ㎃㈨埻㔯ẞ˱</a:t>
            </a:r>
          </a:p>
          <a:p>
            <a:pPr/>
            <a:r>
              <a:rPr sz="2400" b="1">
                <a:solidFill>
                  <a:srgbClr val="323232"/>
                </a:solidFill>
                <a:latin typeface="微軟正黑體"/>
              </a:rPr>
              <a:t>⃫⭴嫱⇠⁝⇠悐</a:t>
            </a:r>
          </a:p>
          <a:p>
            <a:pPr/>
            <a:r>
              <a:rPr sz="2400" b="1">
                <a:solidFill>
                  <a:srgbClr val="323232"/>
                </a:solidFill>
                <a:latin typeface="微軟正黑體"/>
              </a:rPr>
              <a:t>ġ ġ ġ ġ ġ ġ ġ ġ ġ ġ ġ ġ ġ ġ ġ ġ ġ ġ ġ ġ ġ ġ ġ ġ</a:t>
            </a:r>
          </a:p>
          <a:p>
            <a:pPr/>
            <a:r>
              <a:rPr sz="2400" b="1">
                <a:solidFill>
                  <a:srgbClr val="323232"/>
                </a:solidFill>
                <a:latin typeface="微軟正黑體"/>
              </a:rPr>
              <a:t>2</a:t>
            </a:r>
          </a:p>
          <a:p>
            <a:pPr/>
            <a:r>
              <a:rPr sz="2400" b="1">
                <a:solidFill>
                  <a:srgbClr val="323232"/>
                </a:solidFill>
                <a:latin typeface="微軟正黑體"/>
              </a:rPr>
              <a:t>Ҟᒵ</a:t>
            </a:r>
          </a:p>
          <a:p>
            <a:pPr/>
            <a:r>
              <a:rPr sz="2400" b="1">
                <a:solidFill>
                  <a:srgbClr val="323232"/>
                </a:solidFill>
                <a:latin typeface="微軟正黑體"/>
              </a:rPr>
              <a:t>........................................................................................................................................................................2</a:t>
            </a:r>
          </a:p>
          <a:p>
            <a:pPr/>
            <a:r>
              <a:rPr sz="2400" b="1">
                <a:solidFill>
                  <a:srgbClr val="323232"/>
                </a:solidFill>
                <a:latin typeface="微軟正黑體"/>
              </a:rPr>
              <a:t>ё᠑ӣ</a:t>
            </a:r>
          </a:p>
          <a:p>
            <a:pPr/>
            <a:r>
              <a:rPr sz="2400" b="1">
                <a:solidFill>
                  <a:srgbClr val="323232"/>
                </a:solidFill>
                <a:latin typeface="微軟正黑體"/>
              </a:rPr>
              <a:t>CMS</a:t>
            </a:r>
          </a:p>
          <a:p>
            <a:pPr/>
            <a:r>
              <a:rPr sz="2400" b="1">
                <a:solidFill>
                  <a:srgbClr val="323232"/>
                </a:solidFill>
                <a:latin typeface="微軟正黑體"/>
              </a:rPr>
              <a:t>ೱ่؂В୔໔ी৲໸چ</a:t>
            </a:r>
          </a:p>
          <a:p>
            <a:pPr/>
            <a:r>
              <a:rPr sz="2400" b="1">
                <a:solidFill>
                  <a:srgbClr val="323232"/>
                </a:solidFill>
                <a:latin typeface="微軟正黑體"/>
              </a:rPr>
              <a:t>....................................................................................................3</a:t>
            </a:r>
          </a:p>
          <a:p>
            <a:pPr/>
            <a:r>
              <a:rPr sz="2400" b="1">
                <a:solidFill>
                  <a:srgbClr val="323232"/>
                </a:solidFill>
                <a:latin typeface="微軟正黑體"/>
              </a:rPr>
              <a:t>1</a:t>
            </a:r>
          </a:p>
          <a:p>
            <a:pPr/>
            <a:r>
              <a:rPr sz="2400" b="1">
                <a:solidFill>
                  <a:srgbClr val="323232"/>
                </a:solidFill>
                <a:latin typeface="微軟正黑體"/>
              </a:rPr>
              <a:t>ǵ</a:t>
            </a:r>
          </a:p>
          <a:p>
            <a:pPr/>
            <a:r>
              <a:rPr sz="2400" b="1">
                <a:solidFill>
                  <a:srgbClr val="323232"/>
                </a:solidFill>
                <a:latin typeface="微軟正黑體"/>
              </a:rPr>
              <a:t>ࠨऊϣ৒</a:t>
            </a:r>
          </a:p>
          <a:p>
            <a:pPr/>
            <a:r>
              <a:rPr sz="2400" b="1">
                <a:solidFill>
                  <a:srgbClr val="323232"/>
                </a:solidFill>
                <a:latin typeface="微軟正黑體"/>
              </a:rPr>
              <a:t>......................................................................................................................................................3</a:t>
            </a:r>
          </a:p>
          <a:p>
            <a:pPr/>
            <a:r>
              <a:rPr sz="2400" b="1">
                <a:solidFill>
                  <a:srgbClr val="323232"/>
                </a:solidFill>
                <a:latin typeface="微軟正黑體"/>
              </a:rPr>
              <a:t>LMM</a:t>
            </a:r>
          </a:p>
          <a:p>
            <a:pPr/>
            <a:r>
              <a:rPr sz="2400" b="1">
                <a:solidFill>
                  <a:srgbClr val="323232"/>
                </a:solidFill>
                <a:latin typeface="微軟正黑體"/>
              </a:rPr>
              <a:t>ճ౗ኳᔕ</a:t>
            </a:r>
          </a:p>
          <a:p>
            <a:pPr/>
            <a:r>
              <a:rPr sz="2400" b="1">
                <a:solidFill>
                  <a:srgbClr val="323232"/>
                </a:solidFill>
                <a:latin typeface="微軟正黑體"/>
              </a:rPr>
              <a:t>........................................................................................................................................5</a:t>
            </a:r>
          </a:p>
          <a:p>
            <a:pPr/>
            <a:r>
              <a:rPr sz="2400" b="1">
                <a:solidFill>
                  <a:srgbClr val="323232"/>
                </a:solidFill>
                <a:latin typeface="微軟正黑體"/>
              </a:rPr>
              <a:t>1</a:t>
            </a:r>
          </a:p>
          <a:p>
            <a:pPr/>
            <a:r>
              <a:rPr sz="2400" b="1">
                <a:solidFill>
                  <a:srgbClr val="323232"/>
                </a:solidFill>
                <a:latin typeface="微軟正黑體"/>
              </a:rPr>
              <a:t>ǵ</a:t>
            </a:r>
          </a:p>
          <a:p>
            <a:pPr/>
            <a:r>
              <a:rPr sz="2400" b="1">
                <a:solidFill>
                  <a:srgbClr val="323232"/>
                </a:solidFill>
                <a:latin typeface="微軟正黑體"/>
              </a:rPr>
              <a:t>LMM</a:t>
            </a:r>
          </a:p>
          <a:p>
            <a:pPr/>
            <a:r>
              <a:rPr sz="2400" b="1">
                <a:solidFill>
                  <a:srgbClr val="323232"/>
                </a:solidFill>
                <a:latin typeface="微軟正黑體"/>
              </a:rPr>
              <a:t>ኳࠠ</a:t>
            </a:r>
          </a:p>
          <a:p>
            <a:pPr/>
            <a:r>
              <a:rPr sz="2400" b="1">
                <a:solidFill>
                  <a:srgbClr val="323232"/>
                </a:solidFill>
                <a:latin typeface="微軟正黑體"/>
              </a:rPr>
              <a:t>...................................................................................................................................................5</a:t>
            </a:r>
          </a:p>
          <a:p>
            <a:pPr/>
            <a:r>
              <a:rPr sz="2400" b="1">
                <a:solidFill>
                  <a:srgbClr val="323232"/>
                </a:solidFill>
                <a:latin typeface="微軟正黑體"/>
              </a:rPr>
              <a:t>LMM</a:t>
            </a:r>
          </a:p>
          <a:p>
            <a:pPr/>
            <a:r>
              <a:rPr sz="2400" b="1">
                <a:solidFill>
                  <a:srgbClr val="323232"/>
                </a:solidFill>
                <a:latin typeface="微軟正黑體"/>
              </a:rPr>
              <a:t>ኳࠠ຾Չճ౗ኳᔕ</a:t>
            </a:r>
          </a:p>
          <a:p>
            <a:pPr/>
            <a:r>
              <a:rPr sz="2400" b="1">
                <a:solidFill>
                  <a:srgbClr val="323232"/>
                </a:solidFill>
                <a:latin typeface="微軟正黑體"/>
              </a:rPr>
              <a:t>........................................................................................................................6</a:t>
            </a:r>
          </a:p>
          <a:p>
            <a:pPr/>
            <a:r>
              <a:rPr sz="2400" b="1">
                <a:solidFill>
                  <a:srgbClr val="323232"/>
                </a:solidFill>
                <a:latin typeface="微軟正黑體"/>
              </a:rPr>
              <a:t>1</a:t>
            </a:r>
          </a:p>
          <a:p>
            <a:pPr/>
            <a:r>
              <a:rPr sz="2400" b="1">
                <a:solidFill>
                  <a:srgbClr val="323232"/>
                </a:solidFill>
                <a:latin typeface="微軟正黑體"/>
              </a:rPr>
              <a:t>ǵ</a:t>
            </a:r>
          </a:p>
          <a:p>
            <a:pPr/>
            <a:r>
              <a:rPr sz="2400" b="1">
                <a:solidFill>
                  <a:srgbClr val="323232"/>
                </a:solidFill>
                <a:latin typeface="微軟正黑體"/>
              </a:rPr>
              <a:t>CCDRA</a:t>
            </a:r>
          </a:p>
          <a:p>
            <a:pPr/>
            <a:r>
              <a:rPr sz="2400" b="1">
                <a:solidFill>
                  <a:srgbClr val="323232"/>
                </a:solidFill>
                <a:latin typeface="微軟正黑體"/>
              </a:rPr>
              <a:t>ౢࠔଷ೛</a:t>
            </a:r>
          </a:p>
          <a:p>
            <a:pPr/>
            <a:r>
              <a:rPr sz="2400" b="1">
                <a:solidFill>
                  <a:srgbClr val="323232"/>
                </a:solidFill>
                <a:latin typeface="微軟正黑體"/>
              </a:rPr>
              <a:t>.......................................................................................................................................6</a:t>
            </a:r>
          </a:p>
          <a:p>
            <a:pPr/>
            <a:r>
              <a:rPr sz="2400" b="1">
                <a:solidFill>
                  <a:srgbClr val="323232"/>
                </a:solidFill>
                <a:latin typeface="微軟正黑體"/>
              </a:rPr>
              <a:t>2</a:t>
            </a:r>
          </a:p>
          <a:p>
            <a:pPr/>
            <a:r>
              <a:rPr sz="2400" b="1">
                <a:solidFill>
                  <a:srgbClr val="323232"/>
                </a:solidFill>
                <a:latin typeface="微軟正黑體"/>
              </a:rPr>
              <a:t>ǵ</a:t>
            </a:r>
          </a:p>
          <a:p>
            <a:pPr/>
            <a:r>
              <a:rPr sz="2400" b="1">
                <a:solidFill>
                  <a:srgbClr val="323232"/>
                </a:solidFill>
                <a:latin typeface="微軟正黑體"/>
              </a:rPr>
              <a:t>୔໔ी৲ϣකݤ</a:t>
            </a:r>
          </a:p>
          <a:p>
            <a:pPr/>
            <a:r>
              <a:rPr sz="2400" b="1">
                <a:solidFill>
                  <a:srgbClr val="323232"/>
                </a:solidFill>
                <a:latin typeface="微軟正黑體"/>
              </a:rPr>
              <a:t>..........................................................................................................................................7</a:t>
            </a:r>
          </a:p>
          <a:p>
            <a:pPr/>
            <a:r>
              <a:rPr sz="2400" b="1">
                <a:solidFill>
                  <a:srgbClr val="323232"/>
                </a:solidFill>
                <a:latin typeface="微軟正黑體"/>
              </a:rPr>
              <a:t>3</a:t>
            </a:r>
          </a:p>
          <a:p>
            <a:pPr/>
            <a:r>
              <a:rPr sz="2400" b="1">
                <a:solidFill>
                  <a:srgbClr val="323232"/>
                </a:solidFill>
                <a:latin typeface="微軟正黑體"/>
              </a:rPr>
              <a:t>ǵ</a:t>
            </a:r>
          </a:p>
          <a:p>
            <a:pPr/>
            <a:r>
              <a:rPr sz="2400" b="1">
                <a:solidFill>
                  <a:srgbClr val="323232"/>
                </a:solidFill>
                <a:latin typeface="微軟正黑體"/>
              </a:rPr>
              <a:t>നλѳБᆾӦьᛥݤ</a:t>
            </a:r>
          </a:p>
          <a:p>
            <a:pPr/>
            <a:r>
              <a:rPr sz="2400" b="1">
                <a:solidFill>
                  <a:srgbClr val="323232"/>
                </a:solidFill>
                <a:latin typeface="微軟正黑體"/>
              </a:rPr>
              <a:t>(L</a:t>
            </a:r>
          </a:p>
          <a:p>
            <a:pPr lvl="1"/>
            <a:r>
              <a:rPr sz="1800">
                <a:solidFill>
                  <a:srgbClr val="323232"/>
                </a:solidFill>
                <a:latin typeface="微軟正黑體"/>
              </a:rPr>
              <a:t>• EAST</a:t>
            </a:r>
          </a:p>
          <a:p>
            <a:pPr/>
            <a:r>
              <a:rPr sz="2400" b="1">
                <a:solidFill>
                  <a:srgbClr val="323232"/>
                </a:solidFill>
                <a:latin typeface="微軟正黑體"/>
              </a:rPr>
              <a:t>S</a:t>
            </a:r>
          </a:p>
          <a:p>
            <a:pPr lvl="1"/>
            <a:r>
              <a:rPr sz="1800">
                <a:solidFill>
                  <a:srgbClr val="323232"/>
                </a:solidFill>
                <a:latin typeface="微軟正黑體"/>
              </a:rPr>
              <a:t>• QUARE</a:t>
            </a:r>
          </a:p>
          <a:p>
            <a:pPr/>
            <a:r>
              <a:rPr sz="2400" b="1">
                <a:solidFill>
                  <a:srgbClr val="323232"/>
                </a:solidFill>
                <a:latin typeface="微軟正黑體"/>
              </a:rPr>
              <a:t>M</a:t>
            </a:r>
          </a:p>
          <a:p>
            <a:pPr lvl="1"/>
            <a:r>
              <a:rPr sz="1800">
                <a:solidFill>
                  <a:srgbClr val="323232"/>
                </a:solidFill>
                <a:latin typeface="微軟正黑體"/>
              </a:rPr>
              <a:t>• ONTE</a:t>
            </a:r>
          </a:p>
          <a:p>
            <a:pPr/>
            <a:r>
              <a:rPr sz="2400" b="1">
                <a:solidFill>
                  <a:srgbClr val="323232"/>
                </a:solidFill>
                <a:latin typeface="微軟正黑體"/>
              </a:rPr>
              <a:t>C</a:t>
            </a:r>
          </a:p>
          <a:p>
            <a:pPr lvl="1"/>
            <a:r>
              <a:rPr sz="1800">
                <a:solidFill>
                  <a:srgbClr val="323232"/>
                </a:solidFill>
                <a:latin typeface="微軟正黑體"/>
              </a:rPr>
              <a:t>• ARLO</a:t>
            </a:r>
          </a:p>
          <a:p>
            <a:pPr/>
            <a:r>
              <a:rPr sz="2400" b="1">
                <a:solidFill>
                  <a:srgbClr val="323232"/>
                </a:solidFill>
                <a:latin typeface="微軟正黑體"/>
              </a:rPr>
              <a:t>S</a:t>
            </a:r>
          </a:p>
          <a:p>
            <a:pPr lvl="1"/>
            <a:r>
              <a:rPr sz="1800">
                <a:solidFill>
                  <a:srgbClr val="323232"/>
                </a:solidFill>
                <a:latin typeface="微軟正黑體"/>
              </a:rPr>
              <a:t>• IMULATION</a:t>
            </a:r>
          </a:p>
          <a:p>
            <a:pPr/>
            <a:r>
              <a:rPr sz="2400" b="1">
                <a:solidFill>
                  <a:srgbClr val="323232"/>
                </a:solidFill>
                <a:latin typeface="微軟正黑體"/>
              </a:rPr>
              <a:t>M</a:t>
            </a:r>
          </a:p>
          <a:p>
            <a:pPr lvl="1"/>
            <a:r>
              <a:rPr sz="1800">
                <a:solidFill>
                  <a:srgbClr val="323232"/>
                </a:solidFill>
                <a:latin typeface="微軟正黑體"/>
              </a:rPr>
              <a:t>• ETHOD</a:t>
            </a:r>
          </a:p>
          <a:p>
            <a:pPr/>
            <a:r>
              <a:rPr sz="2400" b="1">
                <a:solidFill>
                  <a:srgbClr val="323232"/>
                </a:solidFill>
                <a:latin typeface="微軟正黑體"/>
              </a:rPr>
              <a:t>) ..........................................7</a:t>
            </a:r>
          </a:p>
          <a:p>
            <a:pPr/>
            <a:r>
              <a:rPr sz="2400" b="1">
                <a:solidFill>
                  <a:srgbClr val="323232"/>
                </a:solidFill>
                <a:latin typeface="微軟正黑體"/>
              </a:rPr>
              <a:t>QUANT LIB</a:t>
            </a:r>
          </a:p>
          <a:p>
            <a:pPr/>
            <a:r>
              <a:rPr sz="2400" b="1">
                <a:solidFill>
                  <a:srgbClr val="323232"/>
                </a:solidFill>
                <a:latin typeface="微軟正黑體"/>
              </a:rPr>
              <a:t>ჴբำԄࢬำᇥܴ</a:t>
            </a:r>
          </a:p>
          <a:p>
            <a:pPr/>
            <a:r>
              <a:rPr sz="2400" b="1">
                <a:solidFill>
                  <a:srgbClr val="323232"/>
                </a:solidFill>
                <a:latin typeface="微軟正黑體"/>
              </a:rPr>
              <a:t>............................................................................................................9</a:t>
            </a:r>
          </a:p>
          <a:p>
            <a:pPr/>
            <a:r>
              <a:rPr sz="2400" b="1">
                <a:solidFill>
                  <a:srgbClr val="323232"/>
                </a:solidFill>
                <a:latin typeface="微軟正黑體"/>
              </a:rPr>
              <a:t>1</a:t>
            </a:r>
          </a:p>
          <a:p>
            <a:pPr/>
            <a:r>
              <a:rPr sz="2400" b="1">
                <a:solidFill>
                  <a:srgbClr val="323232"/>
                </a:solidFill>
                <a:latin typeface="微軟正黑體"/>
              </a:rPr>
              <a:t>ǵ</a:t>
            </a:r>
          </a:p>
          <a:p>
            <a:pPr/>
            <a:r>
              <a:rPr sz="2400" b="1">
                <a:solidFill>
                  <a:srgbClr val="323232"/>
                </a:solidFill>
                <a:latin typeface="微軟正黑體"/>
              </a:rPr>
              <a:t>ճ౗ය໔่ᄬჴբ</a:t>
            </a:r>
          </a:p>
          <a:p>
            <a:pPr/>
            <a:r>
              <a:rPr sz="2400" b="1">
                <a:solidFill>
                  <a:srgbClr val="323232"/>
                </a:solidFill>
                <a:latin typeface="微軟正黑體"/>
              </a:rPr>
              <a:t>......................................................................................................................................9</a:t>
            </a:r>
          </a:p>
          <a:p>
            <a:pPr/>
            <a:r>
              <a:rPr sz="2400" b="1">
                <a:solidFill>
                  <a:srgbClr val="323232"/>
                </a:solidFill>
                <a:latin typeface="微軟正黑體"/>
              </a:rPr>
              <a:t>2</a:t>
            </a:r>
          </a:p>
          <a:p>
            <a:pPr/>
            <a:r>
              <a:rPr sz="2400" b="1">
                <a:solidFill>
                  <a:srgbClr val="323232"/>
                </a:solidFill>
                <a:latin typeface="微軟正黑體"/>
              </a:rPr>
              <a:t>ǵ</a:t>
            </a:r>
          </a:p>
          <a:p>
            <a:pPr/>
            <a:r>
              <a:rPr sz="2400" b="1">
                <a:solidFill>
                  <a:srgbClr val="323232"/>
                </a:solidFill>
                <a:latin typeface="微軟正黑體"/>
              </a:rPr>
              <a:t>LMM</a:t>
            </a:r>
          </a:p>
          <a:p>
            <a:pPr/>
            <a:r>
              <a:rPr sz="2400" b="1">
                <a:solidFill>
                  <a:srgbClr val="323232"/>
                </a:solidFill>
                <a:latin typeface="微軟正黑體"/>
              </a:rPr>
              <a:t>ኳࠠୖኧ</a:t>
            </a:r>
          </a:p>
          <a:p>
            <a:pPr/>
            <a:r>
              <a:rPr sz="2400" b="1">
                <a:solidFill>
                  <a:srgbClr val="323232"/>
                </a:solidFill>
                <a:latin typeface="微軟正黑體"/>
              </a:rPr>
              <a:t>C</a:t>
            </a:r>
          </a:p>
          <a:p>
            <a:pPr lvl="1"/>
            <a:r>
              <a:rPr sz="1800">
                <a:solidFill>
                  <a:srgbClr val="323232"/>
                </a:solidFill>
                <a:latin typeface="微軟正黑體"/>
              </a:rPr>
              <a:t>• ALIBRATION</a:t>
            </a:r>
          </a:p>
          <a:p>
            <a:pPr/>
            <a:r>
              <a:rPr sz="2400" b="1">
                <a:solidFill>
                  <a:srgbClr val="323232"/>
                </a:solidFill>
                <a:latin typeface="微軟正黑體"/>
              </a:rPr>
              <a:t>....................................................................................................................9</a:t>
            </a:r>
          </a:p>
          <a:p>
            <a:pPr/>
            <a:r>
              <a:rPr sz="2400" b="1">
                <a:solidFill>
                  <a:srgbClr val="323232"/>
                </a:solidFill>
                <a:latin typeface="微軟正黑體"/>
              </a:rPr>
              <a:t>3</a:t>
            </a:r>
          </a:p>
          <a:p>
            <a:pPr/>
            <a:r>
              <a:rPr sz="2400" b="1">
                <a:solidFill>
                  <a:srgbClr val="323232"/>
                </a:solidFill>
                <a:latin typeface="微軟正黑體"/>
              </a:rPr>
              <a:t>ǵ</a:t>
            </a:r>
          </a:p>
          <a:p>
            <a:pPr/>
            <a:r>
              <a:rPr sz="2400" b="1">
                <a:solidFill>
                  <a:srgbClr val="323232"/>
                </a:solidFill>
                <a:latin typeface="微軟正黑體"/>
              </a:rPr>
              <a:t>LMM E</a:t>
            </a:r>
          </a:p>
          <a:p>
            <a:pPr lvl="1"/>
            <a:r>
              <a:rPr sz="1800">
                <a:solidFill>
                  <a:srgbClr val="323232"/>
                </a:solidFill>
                <a:latin typeface="微軟正黑體"/>
              </a:rPr>
              <a:t>• VOLUTION</a:t>
            </a:r>
          </a:p>
          <a:p>
            <a:pPr/>
            <a:r>
              <a:rPr sz="2400" b="1">
                <a:solidFill>
                  <a:srgbClr val="323232"/>
                </a:solidFill>
                <a:latin typeface="微軟正黑體"/>
              </a:rPr>
              <a:t>......................................................................................................................................11</a:t>
            </a:r>
          </a:p>
          <a:p>
            <a:pPr/>
            <a:r>
              <a:rPr sz="2400" b="1">
                <a:solidFill>
                  <a:srgbClr val="323232"/>
                </a:solidFill>
                <a:latin typeface="微軟正黑體"/>
              </a:rPr>
              <a:t>4</a:t>
            </a:r>
          </a:p>
          <a:p>
            <a:pPr/>
            <a:r>
              <a:rPr sz="2400" b="1">
                <a:solidFill>
                  <a:srgbClr val="323232"/>
                </a:solidFill>
                <a:latin typeface="微軟正黑體"/>
              </a:rPr>
              <a:t>ǵ</a:t>
            </a:r>
          </a:p>
          <a:p>
            <a:pPr/>
            <a:r>
              <a:rPr sz="2400" b="1">
                <a:solidFill>
                  <a:srgbClr val="323232"/>
                </a:solidFill>
                <a:latin typeface="微軟正黑體"/>
              </a:rPr>
              <a:t>౜ߎࢬໆϣකݤ</a:t>
            </a:r>
          </a:p>
          <a:p>
            <a:pPr/>
            <a:r>
              <a:rPr sz="2400" b="1">
                <a:solidFill>
                  <a:srgbClr val="323232"/>
                </a:solidFill>
                <a:latin typeface="微軟正黑體"/>
              </a:rPr>
              <a:t>........................................................................................................................................13</a:t>
            </a:r>
          </a:p>
          <a:p>
            <a:pPr/>
            <a:r>
              <a:rPr sz="2400" b="1">
                <a:solidFill>
                  <a:srgbClr val="323232"/>
                </a:solidFill>
                <a:latin typeface="微軟正黑體"/>
              </a:rPr>
              <a:t>ჴሞጄٯ</a:t>
            </a:r>
          </a:p>
          <a:p>
            <a:pPr/>
            <a:r>
              <a:rPr sz="2400" b="1">
                <a:solidFill>
                  <a:srgbClr val="323232"/>
                </a:solidFill>
                <a:latin typeface="微軟正黑體"/>
              </a:rPr>
              <a:t>.................................................................................................................................................17</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ё᠑ӣ CMS ೱ่؂В୔໔ी৲໸چ</a:t>
            </a:r>
          </a:p>
        </p:txBody>
      </p:sp>
      <p:sp>
        <p:nvSpPr>
          <p:cNvPr id="5" name="TextBox 4"/>
          <p:cNvSpPr txBox="1"/>
          <p:nvPr/>
        </p:nvSpPr>
        <p:spPr>
          <a:xfrm>
            <a:off x="360000" y="1008000"/>
            <a:ext cx="11473200" cy="5670000"/>
          </a:xfrm>
          <a:prstGeom prst="rect">
            <a:avLst/>
          </a:prstGeom>
          <a:noFill/>
        </p:spPr>
        <p:txBody>
          <a:bodyPr wrap="square">
            <a:spAutoFit/>
          </a:bodyPr>
          <a:lstStyle/>
          <a:p>
            <a:pPr lvl="1"/>
            <a:r>
              <a:rPr sz="1800">
                <a:solidFill>
                  <a:srgbClr val="323232"/>
                </a:solidFill>
                <a:latin typeface="微軟正黑體"/>
              </a:rPr>
              <a:t>• ˰怆⡆✳⎗⍾㴰⇑䌯Ṍ㎃㈨埻㔯ẞ˱</a:t>
            </a:r>
          </a:p>
          <a:p>
            <a:pPr lvl="1"/>
            <a:r>
              <a:rPr sz="1800">
                <a:solidFill>
                  <a:srgbClr val="323232"/>
                </a:solidFill>
                <a:latin typeface="微軟正黑體"/>
              </a:rPr>
              <a:t>• ⃫⭴嫱⇠⁝⇠悐</a:t>
            </a:r>
          </a:p>
          <a:p>
            <a:pPr lvl="1"/>
            <a:r>
              <a:rPr sz="1800">
                <a:solidFill>
                  <a:srgbClr val="323232"/>
                </a:solidFill>
                <a:latin typeface="微軟正黑體"/>
              </a:rPr>
              <a:t>• ġ ġ ġ ġ ġ ġ ġ ġ ġ ġ ġ ġ ġ ġ ġ ġ ġ ġ ġ ġ ġ ġ ġ ġ</a:t>
            </a:r>
          </a:p>
          <a:p>
            <a:pPr lvl="1"/>
            <a:r>
              <a:rPr sz="1800">
                <a:solidFill>
                  <a:srgbClr val="323232"/>
                </a:solidFill>
                <a:latin typeface="微軟正黑體"/>
              </a:rPr>
              <a:t>• 3</a:t>
            </a:r>
          </a:p>
          <a:p>
            <a:pPr/>
            <a:r>
              <a:rPr sz="2400" b="1">
                <a:solidFill>
                  <a:srgbClr val="323232"/>
                </a:solidFill>
                <a:latin typeface="微軟正黑體"/>
              </a:rPr>
              <a:t>1</a:t>
            </a:r>
          </a:p>
          <a:p>
            <a:pPr/>
            <a:r>
              <a:rPr sz="2400" b="1">
                <a:solidFill>
                  <a:srgbClr val="323232"/>
                </a:solidFill>
                <a:latin typeface="微軟正黑體"/>
              </a:rPr>
              <a:t>ǵ ࠨऊϣ৒</a:t>
            </a:r>
          </a:p>
          <a:p>
            <a:pPr/>
            <a:r>
              <a:rPr sz="2400" b="1">
                <a:solidFill>
                  <a:srgbClr val="323232"/>
                </a:solidFill>
                <a:latin typeface="微軟正黑體"/>
              </a:rPr>
              <a:t>ё᠑ӣ</a:t>
            </a:r>
          </a:p>
          <a:p>
            <a:pPr/>
            <a:r>
              <a:rPr sz="2400" b="1">
                <a:solidFill>
                  <a:srgbClr val="323232"/>
                </a:solidFill>
                <a:latin typeface="微軟正黑體"/>
              </a:rPr>
              <a:t>CMS</a:t>
            </a:r>
          </a:p>
          <a:p>
            <a:pPr/>
            <a:r>
              <a:rPr sz="2400" b="1">
                <a:solidFill>
                  <a:srgbClr val="323232"/>
                </a:solidFill>
                <a:latin typeface="微軟正黑體"/>
              </a:rPr>
              <a:t>ೱ่؂В୔໔ी৲໸چ</a:t>
            </a:r>
          </a:p>
          <a:p>
            <a:pPr/>
            <a:r>
              <a:rPr sz="2400" b="1">
                <a:solidFill>
                  <a:srgbClr val="323232"/>
                </a:solidFill>
                <a:latin typeface="微軟正黑體"/>
              </a:rPr>
              <a:t>(Callable CMS-Linked Daily Range Accrual Note</a:t>
            </a:r>
          </a:p>
          <a:p>
            <a:pPr/>
            <a:r>
              <a:rPr sz="2400" b="1">
                <a:solidFill>
                  <a:srgbClr val="323232"/>
                </a:solidFill>
                <a:latin typeface="微軟正黑體"/>
              </a:rPr>
              <a:t>Ǵ</a:t>
            </a:r>
          </a:p>
          <a:p>
            <a:pPr/>
            <a:r>
              <a:rPr sz="2400" b="1">
                <a:solidFill>
                  <a:srgbClr val="323232"/>
                </a:solidFill>
                <a:latin typeface="微軟正黑體"/>
              </a:rPr>
              <a:t>аΠᙁᆀ</a:t>
            </a:r>
          </a:p>
          <a:p>
            <a:pPr/>
            <a:r>
              <a:rPr sz="2400" b="1">
                <a:solidFill>
                  <a:srgbClr val="323232"/>
                </a:solidFill>
                <a:latin typeface="微軟正黑體"/>
              </a:rPr>
              <a:t>CCDRA)</a:t>
            </a:r>
          </a:p>
          <a:p>
            <a:pPr/>
            <a:r>
              <a:rPr sz="2400" b="1">
                <a:solidFill>
                  <a:srgbClr val="323232"/>
                </a:solidFill>
                <a:latin typeface="微軟正黑體"/>
              </a:rPr>
              <a:t>Ƕ</a:t>
            </a:r>
          </a:p>
          <a:p>
            <a:pPr/>
            <a:r>
              <a:rPr sz="2400" b="1">
                <a:solidFill>
                  <a:srgbClr val="323232"/>
                </a:solidFill>
                <a:latin typeface="微軟正黑體"/>
              </a:rPr>
              <a:t>CCDRA</a:t>
            </a:r>
          </a:p>
          <a:p>
            <a:pPr/>
            <a:r>
              <a:rPr sz="2400" b="1">
                <a:solidFill>
                  <a:srgbClr val="323232"/>
                </a:solidFill>
                <a:latin typeface="微軟正黑體"/>
              </a:rPr>
              <a:t>ࣁسӈ஑ਢಃϤ໨ౢࠔǴԜౢࠔ߯٩Ᏽӕسӈ஑ਢಃϖ໨ౢ</a:t>
            </a:r>
          </a:p>
          <a:p>
            <a:pPr/>
            <a:r>
              <a:rPr sz="2400" b="1">
                <a:solidFill>
                  <a:srgbClr val="323232"/>
                </a:solidFill>
                <a:latin typeface="微軟正黑體"/>
              </a:rPr>
              <a:t>ࠔڰۓයज़Ҭඤೱ่؂В୔໔ी৲໸چ</a:t>
            </a:r>
          </a:p>
          <a:p>
            <a:pPr/>
            <a:r>
              <a:rPr sz="2400" b="1">
                <a:solidFill>
                  <a:srgbClr val="323232"/>
                </a:solidFill>
                <a:latin typeface="微軟正黑體"/>
              </a:rPr>
              <a:t>(CDRA</a:t>
            </a:r>
          </a:p>
          <a:p>
            <a:pPr/>
            <a:r>
              <a:rPr sz="2400" b="1">
                <a:solidFill>
                  <a:srgbClr val="323232"/>
                </a:solidFill>
                <a:latin typeface="微軟正黑體"/>
              </a:rPr>
              <a:t>Ǵ</a:t>
            </a:r>
          </a:p>
          <a:p>
            <a:pPr/>
            <a:r>
              <a:rPr sz="2400" b="1">
                <a:solidFill>
                  <a:srgbClr val="323232"/>
                </a:solidFill>
                <a:latin typeface="微軟正黑體"/>
              </a:rPr>
              <a:t>CMS-Linked Daily Range Accrual Note)</a:t>
            </a:r>
          </a:p>
          <a:p>
            <a:pPr/>
            <a:r>
              <a:rPr sz="2400" b="1">
                <a:solidFill>
                  <a:srgbClr val="323232"/>
                </a:solidFill>
                <a:latin typeface="微軟正黑體"/>
              </a:rPr>
              <a:t>ߕу໸چ᠑ӣ៾ճϐ่ᄬࠠౢࠔǴջวՉΓܭএ่ය໔ѦёЍб໸چ᠑ӣሽ਱ٳග߻ಖ</a:t>
            </a:r>
          </a:p>
          <a:p>
            <a:pPr/>
            <a:r>
              <a:rPr sz="2400" b="1">
                <a:solidFill>
                  <a:srgbClr val="323232"/>
                </a:solidFill>
                <a:latin typeface="微軟正黑體"/>
              </a:rPr>
              <a:t>ЗࠨऊǶ</a:t>
            </a:r>
          </a:p>
          <a:p>
            <a:pPr/>
            <a:r>
              <a:rPr sz="2400" b="1">
                <a:solidFill>
                  <a:srgbClr val="323232"/>
                </a:solidFill>
                <a:latin typeface="微軟正黑體"/>
              </a:rPr>
              <a:t>ҁЎҹࣁϡ൤᛾چ໸چ೽ຑሽኳࠠϐᇥܴЎҹǴӧ಄ӝჴ୍ѱ൑ΠǴीᆉ</a:t>
            </a:r>
          </a:p>
          <a:p>
            <a:pPr/>
            <a:r>
              <a:rPr sz="2400" b="1">
                <a:solidFill>
                  <a:srgbClr val="323232"/>
                </a:solidFill>
                <a:latin typeface="微軟正黑體"/>
              </a:rPr>
              <a:t>CCDRA</a:t>
            </a:r>
          </a:p>
          <a:p>
            <a:pPr/>
            <a:r>
              <a:rPr sz="2400" b="1">
                <a:solidFill>
                  <a:srgbClr val="323232"/>
                </a:solidFill>
                <a:latin typeface="微軟正黑體"/>
              </a:rPr>
              <a:t>ޑ</a:t>
            </a:r>
          </a:p>
          <a:p>
            <a:pPr/>
            <a:r>
              <a:rPr sz="2400" b="1">
                <a:solidFill>
                  <a:srgbClr val="323232"/>
                </a:solidFill>
                <a:latin typeface="微軟正黑體"/>
              </a:rPr>
              <a:t>౛ፕሽ਱ǴᙖԜΑှ୘ࠔޑӝ౛܄ᆶ҅ዴ܄Ƕ</a:t>
            </a:r>
          </a:p>
          <a:p>
            <a:pPr/>
            <a:r>
              <a:rPr sz="2400" b="1">
                <a:solidFill>
                  <a:srgbClr val="323232"/>
                </a:solidFill>
                <a:latin typeface="微軟正黑體"/>
              </a:rPr>
              <a:t>CCDRA</a:t>
            </a:r>
          </a:p>
          <a:p>
            <a:pPr/>
            <a:r>
              <a:rPr sz="2400" b="1">
                <a:solidFill>
                  <a:srgbClr val="323232"/>
                </a:solidFill>
                <a:latin typeface="微軟正黑體"/>
              </a:rPr>
              <a:t>ࣁ୷ܭচۈ</a:t>
            </a:r>
          </a:p>
          <a:p>
            <a:pPr/>
            <a:r>
              <a:rPr sz="2400" b="1">
                <a:solidFill>
                  <a:srgbClr val="323232"/>
                </a:solidFill>
                <a:latin typeface="微軟正黑體"/>
              </a:rPr>
              <a:t>CDRA</a:t>
            </a:r>
          </a:p>
          <a:p>
            <a:pPr/>
            <a:r>
              <a:rPr sz="2400" b="1">
                <a:solidFill>
                  <a:srgbClr val="323232"/>
                </a:solidFill>
                <a:latin typeface="微軟正黑體"/>
              </a:rPr>
              <a:t>ࢎᄬу΢໸چ᠑</a:t>
            </a:r>
          </a:p>
          <a:p>
            <a:pPr/>
            <a:r>
              <a:rPr sz="2400" b="1">
                <a:solidFill>
                  <a:srgbClr val="323232"/>
                </a:solidFill>
                <a:latin typeface="微軟正黑體"/>
              </a:rPr>
              <a:t>ӣ៾ϐౢࠔǴࡺ</a:t>
            </a:r>
          </a:p>
          <a:p>
            <a:pPr/>
            <a:r>
              <a:rPr sz="2400" b="1">
                <a:solidFill>
                  <a:srgbClr val="323232"/>
                </a:solidFill>
                <a:latin typeface="微軟正黑體"/>
              </a:rPr>
              <a:t>CCDRA</a:t>
            </a:r>
          </a:p>
          <a:p>
            <a:pPr/>
            <a:r>
              <a:rPr sz="2400" b="1">
                <a:solidFill>
                  <a:srgbClr val="323232"/>
                </a:solidFill>
                <a:latin typeface="微軟正黑體"/>
              </a:rPr>
              <a:t>௢ᏤၸำஒЇॊ</a:t>
            </a:r>
          </a:p>
          <a:p>
            <a:pPr/>
            <a:r>
              <a:rPr sz="2400" b="1">
                <a:solidFill>
                  <a:srgbClr val="323232"/>
                </a:solidFill>
                <a:latin typeface="微軟正黑體"/>
              </a:rPr>
              <a:t>CDRA</a:t>
            </a:r>
          </a:p>
          <a:p>
            <a:pPr/>
            <a:r>
              <a:rPr sz="2400" b="1">
                <a:solidFill>
                  <a:srgbClr val="323232"/>
                </a:solidFill>
                <a:latin typeface="微軟正黑體"/>
              </a:rPr>
              <a:t>מೌЎҹբࣁԜמೌЎҹϐୖԵǶ</a:t>
            </a:r>
          </a:p>
          <a:p>
            <a:pPr/>
            <a:r>
              <a:rPr sz="2400" b="1">
                <a:solidFill>
                  <a:srgbClr val="323232"/>
                </a:solidFill>
                <a:latin typeface="微軟正黑體"/>
              </a:rPr>
              <a:t>CCDRA</a:t>
            </a:r>
          </a:p>
          <a:p>
            <a:pPr/>
            <a:r>
              <a:rPr sz="2400" b="1">
                <a:solidFill>
                  <a:srgbClr val="323232"/>
                </a:solidFill>
                <a:latin typeface="微軟正黑體"/>
              </a:rPr>
              <a:t>ౢࠔೱ่</a:t>
            </a:r>
          </a:p>
          <a:p>
            <a:pPr/>
            <a:r>
              <a:rPr sz="2400" b="1">
                <a:solidFill>
                  <a:srgbClr val="323232"/>
                </a:solidFill>
                <a:latin typeface="微軟正黑體"/>
              </a:rPr>
              <a:t>CMS</a:t>
            </a:r>
          </a:p>
          <a:p>
            <a:pPr/>
            <a:r>
              <a:rPr sz="2400" b="1">
                <a:solidFill>
                  <a:srgbClr val="323232"/>
                </a:solidFill>
                <a:latin typeface="微軟正黑體"/>
              </a:rPr>
              <a:t>؂В୔໔ी৲໸چǴਥᏵѱ൑΢؂В</a:t>
            </a:r>
          </a:p>
          <a:p>
            <a:pPr/>
            <a:r>
              <a:rPr sz="2400" b="1">
                <a:solidFill>
                  <a:srgbClr val="323232"/>
                </a:solidFill>
                <a:latin typeface="微軟正黑體"/>
              </a:rPr>
              <a:t>CMS</a:t>
            </a:r>
          </a:p>
          <a:p>
            <a:pPr/>
            <a:r>
              <a:rPr sz="2400" b="1">
                <a:solidFill>
                  <a:srgbClr val="323232"/>
                </a:solidFill>
                <a:latin typeface="微軟正黑體"/>
              </a:rPr>
              <a:t>ճ౗ࡰ኱ࢂցϟܭႣ೛୔໔،ۓ</a:t>
            </a:r>
          </a:p>
          <a:p>
            <a:pPr/>
            <a:r>
              <a:rPr sz="2400" b="1">
                <a:solidFill>
                  <a:srgbClr val="323232"/>
                </a:solidFill>
                <a:latin typeface="微軟正黑體"/>
              </a:rPr>
              <a:t>໸چЍб౻य़ճ౗Ƕҗܭѱ൑΢</a:t>
            </a:r>
          </a:p>
          <a:p>
            <a:pPr/>
            <a:r>
              <a:rPr sz="2400" b="1">
                <a:solidFill>
                  <a:srgbClr val="323232"/>
                </a:solidFill>
                <a:latin typeface="微軟正黑體"/>
              </a:rPr>
              <a:t>CMS</a:t>
            </a:r>
          </a:p>
          <a:p>
            <a:pPr/>
            <a:r>
              <a:rPr sz="2400" b="1">
                <a:solidFill>
                  <a:srgbClr val="323232"/>
                </a:solidFill>
                <a:latin typeface="微軟正黑體"/>
              </a:rPr>
              <a:t>ճ౗ࣣࣁၨߏϺයճ౗ࡰ኱Ǵ΋૓ࠠճ౗ኳࠠၨᜤ</a:t>
            </a:r>
          </a:p>
          <a:p>
            <a:pPr/>
            <a:r>
              <a:rPr sz="2400" b="1">
                <a:solidFill>
                  <a:srgbClr val="323232"/>
                </a:solidFill>
                <a:latin typeface="微軟正黑體"/>
              </a:rPr>
              <a:t>ඔॊߏϺයճ౗่ᄬޑ੝ቻǴࡺԜЎҹၮҔ</a:t>
            </a:r>
          </a:p>
          <a:p>
            <a:pPr/>
            <a:r>
              <a:rPr sz="2400" b="1">
                <a:solidFill>
                  <a:srgbClr val="323232"/>
                </a:solidFill>
                <a:latin typeface="微軟正黑體"/>
              </a:rPr>
              <a:t>LIBOR Market Model</a:t>
            </a:r>
          </a:p>
          <a:p>
            <a:pPr/>
            <a:r>
              <a:rPr sz="2400" b="1">
                <a:solidFill>
                  <a:srgbClr val="323232"/>
                </a:solidFill>
                <a:latin typeface="微軟正黑體"/>
              </a:rPr>
              <a:t>௢৖рᇻයճ౗ᘉණၸ</a:t>
            </a:r>
          </a:p>
          <a:p>
            <a:pPr/>
            <a:r>
              <a:rPr sz="2400" b="1">
                <a:solidFill>
                  <a:srgbClr val="323232"/>
                </a:solidFill>
                <a:latin typeface="微軟正黑體"/>
              </a:rPr>
              <a:t>ำ</a:t>
            </a:r>
          </a:p>
          <a:p>
            <a:pPr/>
            <a:r>
              <a:rPr sz="2400" b="1">
                <a:solidFill>
                  <a:srgbClr val="323232"/>
                </a:solidFill>
                <a:latin typeface="微軟正黑體"/>
              </a:rPr>
              <a:t>(Forward Diffusion)</a:t>
            </a:r>
          </a:p>
          <a:p>
            <a:pPr/>
            <a:r>
              <a:rPr sz="2400" b="1">
                <a:solidFill>
                  <a:srgbClr val="323232"/>
                </a:solidFill>
                <a:latin typeface="微軟正黑體"/>
              </a:rPr>
              <a:t>Ǵ٠೸ၸനλѳБᆾӦьᛥݤ</a:t>
            </a:r>
          </a:p>
          <a:p>
            <a:pPr/>
            <a:r>
              <a:rPr sz="2400" b="1">
                <a:solidFill>
                  <a:srgbClr val="323232"/>
                </a:solidFill>
                <a:latin typeface="微軟正黑體"/>
              </a:rPr>
              <a:t>(Least Squares Monte Carol Method</a:t>
            </a:r>
          </a:p>
          <a:p>
            <a:pPr/>
            <a:r>
              <a:rPr sz="2400" b="1">
                <a:solidFill>
                  <a:srgbClr val="323232"/>
                </a:solidFill>
                <a:latin typeface="微軟正黑體"/>
              </a:rPr>
              <a:t>Ǵ</a:t>
            </a:r>
          </a:p>
          <a:p>
            <a:pPr/>
            <a:r>
              <a:rPr sz="2400" b="1">
                <a:solidFill>
                  <a:srgbClr val="323232"/>
                </a:solidFill>
                <a:latin typeface="微軟正黑體"/>
              </a:rPr>
              <a:t>аΠᙁᆀ</a:t>
            </a:r>
          </a:p>
          <a:p>
            <a:pPr/>
            <a:r>
              <a:rPr sz="2400" b="1">
                <a:solidFill>
                  <a:srgbClr val="323232"/>
                </a:solidFill>
                <a:latin typeface="微軟正黑體"/>
              </a:rPr>
              <a:t>LSMC</a:t>
            </a:r>
          </a:p>
          <a:p>
            <a:pPr/>
            <a:r>
              <a:rPr sz="2400" b="1">
                <a:solidFill>
                  <a:srgbClr val="323232"/>
                </a:solidFill>
                <a:latin typeface="微軟正黑體"/>
              </a:rPr>
              <a:t>ݤ</a:t>
            </a:r>
          </a:p>
          <a:p>
            <a:pPr/>
            <a:r>
              <a:rPr sz="2400" b="1">
                <a:solidFill>
                  <a:srgbClr val="323232"/>
                </a:solidFill>
                <a:latin typeface="微軟正黑體"/>
              </a:rPr>
              <a:t>)</a:t>
            </a:r>
          </a:p>
          <a:p>
            <a:pPr/>
            <a:r>
              <a:rPr sz="2400" b="1">
                <a:solidFill>
                  <a:srgbClr val="323232"/>
                </a:solidFill>
                <a:latin typeface="微軟正黑體"/>
              </a:rPr>
              <a:t>аीᆉ</a:t>
            </a:r>
          </a:p>
          <a:p>
            <a:pPr/>
            <a:r>
              <a:rPr sz="2400" b="1">
                <a:solidFill>
                  <a:srgbClr val="323232"/>
                </a:solidFill>
                <a:latin typeface="微軟正黑體"/>
              </a:rPr>
              <a:t>CCDRA</a:t>
            </a:r>
          </a:p>
          <a:p>
            <a:pPr/>
            <a:r>
              <a:rPr sz="2400" b="1">
                <a:solidFill>
                  <a:srgbClr val="323232"/>
                </a:solidFill>
                <a:latin typeface="微軟正黑體"/>
              </a:rPr>
              <a:t>ౢࠔϐ౛ፕሽ਱Ƕ</a:t>
            </a:r>
          </a:p>
          <a:p>
            <a:pPr/>
            <a:r>
              <a:rPr sz="2400" b="1">
                <a:solidFill>
                  <a:srgbClr val="323232"/>
                </a:solidFill>
                <a:latin typeface="微軟正黑體"/>
              </a:rPr>
              <a:t>ጄٯࠨऊӵΠ</a:t>
            </a:r>
          </a:p>
          <a:p>
            <a:pPr/>
            <a:r>
              <a:rPr sz="2400" b="1">
                <a:solidFill>
                  <a:srgbClr val="323232"/>
                </a:solidFill>
                <a:latin typeface="微軟正黑體"/>
              </a:rPr>
              <a:t>:</a:t>
            </a:r>
          </a:p>
          <a:p>
            <a:pPr/>
            <a:r>
              <a:rPr sz="2400" b="1">
                <a:solidFill>
                  <a:srgbClr val="323232"/>
                </a:solidFill>
                <a:latin typeface="微軟正黑體"/>
              </a:rPr>
              <a:t>(1)</a:t>
            </a:r>
          </a:p>
          <a:p>
            <a:pPr/>
            <a:r>
              <a:rPr sz="2400" b="1">
                <a:solidFill>
                  <a:srgbClr val="323232"/>
                </a:solidFill>
                <a:latin typeface="微軟正黑體"/>
              </a:rPr>
              <a:t>໸چวՉΓ</a:t>
            </a:r>
          </a:p>
          <a:p>
            <a:pPr/>
            <a:r>
              <a:rPr sz="2400" b="1">
                <a:solidFill>
                  <a:srgbClr val="323232"/>
                </a:solidFill>
                <a:latin typeface="微軟正黑體"/>
              </a:rPr>
              <a:t>(Issuer):</a:t>
            </a:r>
          </a:p>
          <a:p>
            <a:pPr/>
            <a:r>
              <a:rPr sz="2400" b="1">
                <a:solidFill>
                  <a:srgbClr val="323232"/>
                </a:solidFill>
                <a:latin typeface="微軟正黑體"/>
              </a:rPr>
              <a:t>ϡ൤᛾چިҽԖज़Ϧљ</a:t>
            </a:r>
          </a:p>
          <a:p>
            <a:pPr/>
            <a:r>
              <a:rPr sz="2400" b="1">
                <a:solidFill>
                  <a:srgbClr val="323232"/>
                </a:solidFill>
                <a:latin typeface="微軟正黑體"/>
              </a:rPr>
              <a:t>(2)</a:t>
            </a:r>
          </a:p>
          <a:p>
            <a:pPr/>
            <a:r>
              <a:rPr sz="2400" b="1">
                <a:solidFill>
                  <a:srgbClr val="323232"/>
                </a:solidFill>
                <a:latin typeface="微軟正黑體"/>
              </a:rPr>
              <a:t>୘ࠔձ</a:t>
            </a:r>
          </a:p>
          <a:p>
            <a:pPr/>
            <a:r>
              <a:rPr sz="2400" b="1">
                <a:solidFill>
                  <a:srgbClr val="323232"/>
                </a:solidFill>
                <a:latin typeface="微軟正黑體"/>
              </a:rPr>
              <a:t>(Product):</a:t>
            </a:r>
          </a:p>
          <a:p>
            <a:pPr/>
            <a:r>
              <a:rPr sz="2400" b="1">
                <a:solidFill>
                  <a:srgbClr val="323232"/>
                </a:solidFill>
                <a:latin typeface="微軟正黑體"/>
              </a:rPr>
              <a:t>ڰۓයज़Ҭඤೱ่؂В୔໔ी৲໸چ</a:t>
            </a:r>
          </a:p>
          <a:p>
            <a:pPr/>
            <a:r>
              <a:rPr sz="2400" b="1">
                <a:solidFill>
                  <a:srgbClr val="323232"/>
                </a:solidFill>
                <a:latin typeface="微軟正黑體"/>
              </a:rPr>
              <a:t>(3)</a:t>
            </a:r>
          </a:p>
          <a:p>
            <a:pPr/>
            <a:r>
              <a:rPr sz="2400" b="1">
                <a:solidFill>
                  <a:srgbClr val="323232"/>
                </a:solidFill>
                <a:latin typeface="微軟正黑體"/>
              </a:rPr>
              <a:t>ҁߎ</a:t>
            </a:r>
          </a:p>
          <a:p>
            <a:pPr/>
            <a:r>
              <a:rPr sz="2400" b="1">
                <a:solidFill>
                  <a:srgbClr val="323232"/>
                </a:solidFill>
                <a:latin typeface="微軟正黑體"/>
              </a:rPr>
              <a:t>(Principal Amount): USD 10,000,000.00</a:t>
            </a:r>
          </a:p>
          <a:p>
            <a:pPr/>
            <a:r>
              <a:rPr sz="2400" b="1">
                <a:solidFill>
                  <a:srgbClr val="323232"/>
                </a:solidFill>
                <a:latin typeface="微軟正黑體"/>
              </a:rPr>
              <a:t>(4)</a:t>
            </a:r>
          </a:p>
          <a:p>
            <a:pPr/>
            <a:r>
              <a:rPr sz="2400" b="1">
                <a:solidFill>
                  <a:srgbClr val="323232"/>
                </a:solidFill>
                <a:latin typeface="微軟正黑體"/>
              </a:rPr>
              <a:t>ीሽჾձ</a:t>
            </a:r>
          </a:p>
          <a:p>
            <a:pPr/>
            <a:r>
              <a:rPr sz="2400" b="1">
                <a:solidFill>
                  <a:srgbClr val="323232"/>
                </a:solidFill>
                <a:latin typeface="微軟正黑體"/>
              </a:rPr>
              <a:t>(Currency): USD</a:t>
            </a:r>
          </a:p>
          <a:p>
            <a:pPr/>
            <a:r>
              <a:rPr sz="2400" b="1">
                <a:solidFill>
                  <a:srgbClr val="323232"/>
                </a:solidFill>
                <a:latin typeface="微軟正黑體"/>
              </a:rPr>
              <a:t>(5)</a:t>
            </a:r>
          </a:p>
          <a:p>
            <a:pPr/>
            <a:r>
              <a:rPr sz="2400" b="1">
                <a:solidFill>
                  <a:srgbClr val="323232"/>
                </a:solidFill>
                <a:latin typeface="微軟正黑體"/>
              </a:rPr>
              <a:t>ғਏВ</a:t>
            </a:r>
          </a:p>
          <a:p>
            <a:pPr/>
            <a:r>
              <a:rPr sz="2400" b="1">
                <a:solidFill>
                  <a:srgbClr val="323232"/>
                </a:solidFill>
                <a:latin typeface="微軟正黑體"/>
              </a:rPr>
              <a:t>(Effective Date): 2022</a:t>
            </a:r>
          </a:p>
          <a:p>
            <a:pPr/>
            <a:r>
              <a:rPr sz="2400" b="1">
                <a:solidFill>
                  <a:srgbClr val="323232"/>
                </a:solidFill>
                <a:latin typeface="微軟正黑體"/>
              </a:rPr>
              <a:t>ԃ</a:t>
            </a:r>
          </a:p>
          <a:p>
            <a:pPr/>
            <a:r>
              <a:rPr sz="2400" b="1">
                <a:solidFill>
                  <a:srgbClr val="323232"/>
                </a:solidFill>
                <a:latin typeface="微軟正黑體"/>
              </a:rPr>
              <a:t>3</a:t>
            </a:r>
          </a:p>
          <a:p>
            <a:pPr/>
            <a:r>
              <a:rPr sz="2400" b="1">
                <a:solidFill>
                  <a:srgbClr val="323232"/>
                </a:solidFill>
                <a:latin typeface="微軟正黑體"/>
              </a:rPr>
              <a:t>Д</a:t>
            </a:r>
          </a:p>
          <a:p>
            <a:pPr/>
            <a:r>
              <a:rPr sz="2400" b="1">
                <a:solidFill>
                  <a:srgbClr val="323232"/>
                </a:solidFill>
                <a:latin typeface="微軟正黑體"/>
              </a:rPr>
              <a:t>31</a:t>
            </a:r>
          </a:p>
          <a:p>
            <a:pPr/>
            <a:r>
              <a:rPr sz="2400" b="1">
                <a:solidFill>
                  <a:srgbClr val="323232"/>
                </a:solidFill>
                <a:latin typeface="微軟正黑體"/>
              </a:rPr>
              <a:t>В</a:t>
            </a:r>
          </a:p>
          <a:p>
            <a:pPr/>
            <a:r>
              <a:rPr sz="2400" b="1">
                <a:solidFill>
                  <a:srgbClr val="323232"/>
                </a:solidFill>
                <a:latin typeface="微軟正黑體"/>
              </a:rPr>
              <a:t>(6)</a:t>
            </a:r>
          </a:p>
          <a:p>
            <a:pPr/>
            <a:r>
              <a:rPr sz="2400" b="1">
                <a:solidFill>
                  <a:srgbClr val="323232"/>
                </a:solidFill>
                <a:latin typeface="微軟正黑體"/>
              </a:rPr>
              <a:t>ډයВ</a:t>
            </a:r>
          </a:p>
          <a:p>
            <a:pPr/>
            <a:r>
              <a:rPr sz="2400" b="1">
                <a:solidFill>
                  <a:srgbClr val="323232"/>
                </a:solidFill>
                <a:latin typeface="微軟正黑體"/>
              </a:rPr>
              <a:t>(Maturity Date): 2027</a:t>
            </a:r>
          </a:p>
          <a:p>
            <a:pPr/>
            <a:r>
              <a:rPr sz="2400" b="1">
                <a:solidFill>
                  <a:srgbClr val="323232"/>
                </a:solidFill>
                <a:latin typeface="微軟正黑體"/>
              </a:rPr>
              <a:t>ԃ</a:t>
            </a:r>
          </a:p>
          <a:p>
            <a:pPr/>
            <a:r>
              <a:rPr sz="2400" b="1">
                <a:solidFill>
                  <a:srgbClr val="323232"/>
                </a:solidFill>
                <a:latin typeface="微軟正黑體"/>
              </a:rPr>
              <a:t>3</a:t>
            </a:r>
          </a:p>
          <a:p>
            <a:pPr/>
            <a:r>
              <a:rPr sz="2400" b="1">
                <a:solidFill>
                  <a:srgbClr val="323232"/>
                </a:solidFill>
                <a:latin typeface="微軟正黑體"/>
              </a:rPr>
              <a:t>Д</a:t>
            </a:r>
          </a:p>
          <a:p>
            <a:pPr/>
            <a:r>
              <a:rPr sz="2400" b="1">
                <a:solidFill>
                  <a:srgbClr val="323232"/>
                </a:solidFill>
                <a:latin typeface="微軟正黑體"/>
              </a:rPr>
              <a:t>31</a:t>
            </a:r>
          </a:p>
          <a:p>
            <a:pPr/>
            <a:r>
              <a:rPr sz="2400" b="1">
                <a:solidFill>
                  <a:srgbClr val="323232"/>
                </a:solidFill>
                <a:latin typeface="微軟正黑體"/>
              </a:rPr>
              <a:t>В</a:t>
            </a:r>
          </a:p>
          <a:p>
            <a:pPr/>
            <a:r>
              <a:rPr sz="2400" b="1">
                <a:solidFill>
                  <a:srgbClr val="323232"/>
                </a:solidFill>
                <a:latin typeface="微軟正黑體"/>
              </a:rPr>
              <a:t>(7)</a:t>
            </a:r>
          </a:p>
          <a:p>
            <a:pPr/>
            <a:r>
              <a:rPr sz="2400" b="1">
                <a:solidFill>
                  <a:srgbClr val="323232"/>
                </a:solidFill>
                <a:latin typeface="微軟正黑體"/>
              </a:rPr>
              <a:t>᠑ӣሽ਱</a:t>
            </a:r>
          </a:p>
          <a:p>
            <a:pPr/>
            <a:r>
              <a:rPr sz="2400" b="1">
                <a:solidFill>
                  <a:srgbClr val="323232"/>
                </a:solidFill>
                <a:latin typeface="微軟正黑體"/>
              </a:rPr>
              <a:t>(Call Price): 100.00</a:t>
            </a:r>
          </a:p>
          <a:p>
            <a:pPr/>
            <a:r>
              <a:rPr sz="2400" b="1">
                <a:solidFill>
                  <a:srgbClr val="323232"/>
                </a:solidFill>
                <a:latin typeface="微軟正黑體"/>
              </a:rPr>
              <a:t>(8)</a:t>
            </a:r>
          </a:p>
          <a:p>
            <a:pPr/>
            <a:r>
              <a:rPr sz="2400" b="1">
                <a:solidFill>
                  <a:srgbClr val="323232"/>
                </a:solidFill>
                <a:latin typeface="微軟正黑體"/>
              </a:rPr>
              <a:t>এ่ය໔</a:t>
            </a:r>
          </a:p>
          <a:p>
            <a:pPr/>
            <a:r>
              <a:rPr sz="2400" b="1">
                <a:solidFill>
                  <a:srgbClr val="323232"/>
                </a:solidFill>
                <a:latin typeface="微軟正黑體"/>
              </a:rPr>
              <a:t>(Freeze): 1</a:t>
            </a:r>
          </a:p>
          <a:p>
            <a:pPr/>
            <a:r>
              <a:rPr sz="2400" b="1">
                <a:solidFill>
                  <a:srgbClr val="323232"/>
                </a:solidFill>
                <a:latin typeface="微軟正黑體"/>
              </a:rPr>
              <a:t>ԃ</a:t>
            </a:r>
          </a:p>
          <a:p>
            <a:pPr/>
            <a:r>
              <a:rPr sz="2400" b="1">
                <a:solidFill>
                  <a:srgbClr val="323232"/>
                </a:solidFill>
                <a:latin typeface="微軟正黑體"/>
              </a:rPr>
              <a:t>(9)</a:t>
            </a:r>
          </a:p>
          <a:p>
            <a:pPr/>
            <a:r>
              <a:rPr sz="2400" b="1">
                <a:solidFill>
                  <a:srgbClr val="323232"/>
                </a:solidFill>
                <a:latin typeface="微軟正黑體"/>
              </a:rPr>
              <a:t>Πज़ճ౗</a:t>
            </a:r>
          </a:p>
          <a:p>
            <a:pPr/>
            <a:r>
              <a:rPr sz="2400" b="1">
                <a:solidFill>
                  <a:srgbClr val="323232"/>
                </a:solidFill>
                <a:latin typeface="微軟正黑體"/>
              </a:rPr>
              <a:t>(Floor): 0.00%</a:t>
            </a:r>
          </a:p>
          <a:p>
            <a:pPr/>
            <a:r>
              <a:rPr sz="2400" b="1">
                <a:solidFill>
                  <a:srgbClr val="323232"/>
                </a:solidFill>
                <a:latin typeface="微軟正黑體"/>
              </a:rPr>
              <a:t>(10)</a:t>
            </a:r>
          </a:p>
          <a:p>
            <a:pPr/>
            <a:r>
              <a:rPr sz="2400" b="1">
                <a:solidFill>
                  <a:srgbClr val="323232"/>
                </a:solidFill>
                <a:latin typeface="微軟正黑體"/>
              </a:rPr>
              <a:t>΢ज़ճ౗</a:t>
            </a:r>
          </a:p>
          <a:p>
            <a:pPr/>
            <a:r>
              <a:rPr sz="2400" b="1">
                <a:solidFill>
                  <a:srgbClr val="323232"/>
                </a:solidFill>
                <a:latin typeface="微軟正黑體"/>
              </a:rPr>
              <a:t>(Ceiling): 4.25%</a:t>
            </a:r>
          </a:p>
          <a:p>
            <a:pPr/>
            <a:r>
              <a:rPr sz="2400" b="1">
                <a:solidFill>
                  <a:srgbClr val="323232"/>
                </a:solidFill>
                <a:latin typeface="微軟正黑體"/>
              </a:rPr>
              <a:t>(11)</a:t>
            </a:r>
          </a:p>
          <a:p>
            <a:pPr/>
            <a:r>
              <a:rPr sz="2400" b="1">
                <a:solidFill>
                  <a:srgbClr val="323232"/>
                </a:solidFill>
                <a:latin typeface="微軟正黑體"/>
              </a:rPr>
              <a:t>ೱ่኱ޑ</a:t>
            </a:r>
          </a:p>
          <a:p>
            <a:pPr/>
            <a:r>
              <a:rPr sz="2400" b="1">
                <a:solidFill>
                  <a:srgbClr val="323232"/>
                </a:solidFill>
                <a:latin typeface="微軟正黑體"/>
              </a:rPr>
              <a:t>(Index): 2</a:t>
            </a:r>
          </a:p>
          <a:p>
            <a:pPr/>
            <a:r>
              <a:rPr sz="2400" b="1">
                <a:solidFill>
                  <a:srgbClr val="323232"/>
                </a:solidFill>
                <a:latin typeface="微軟正黑體"/>
              </a:rPr>
              <a:t>ԃයڰۓයज़Ҭඤճ౗</a:t>
            </a:r>
          </a:p>
          <a:p>
            <a:pPr/>
            <a:r>
              <a:rPr sz="2400" b="1">
                <a:solidFill>
                  <a:srgbClr val="323232"/>
                </a:solidFill>
                <a:latin typeface="微軟正黑體"/>
              </a:rPr>
              <a:t>(Bloomberg Ticker USSW2 Curncy)</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(12) ౻य़ճ౗ (Coupon Rate): ڰۓճ౗ 1.65% (13) б৲ᓎ౗ (Frequency): Quarterly (14) ी৲୷ᘵ (Daycount): 30/360</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 ġ˰怆⡆✳⎗⍾㴰⇑䌯Ṍ㎃㈨埻㔯ẞ˱ġ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⃫⭴嫱⇠⁝⇠悐ġ</a:t>
            </a:r>
          </a:p>
          <a:p>
            <a:pPr/>
            <a:r>
              <a:rPr sz="2400" b="1">
                <a:solidFill>
                  <a:srgbClr val="323232"/>
                </a:solidFill>
                <a:latin typeface="微軟正黑體"/>
              </a:rPr>
              <a:t>ġ ġ ġ ġ ġ ġ ġ ġ ġ ġ ġ ġ ġ ġ ġ ġ ġ ġ ġ ġ ġ ġ ġ ġ</a:t>
            </a:r>
          </a:p>
          <a:p>
            <a:pPr/>
            <a:r>
              <a:rPr sz="2400" b="1">
                <a:solidFill>
                  <a:srgbClr val="323232"/>
                </a:solidFill>
                <a:latin typeface="微軟正黑體"/>
              </a:rPr>
              <a:t>4</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LMM ճ౗ኳᔕ</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ၸѐ໺಍ճ౗ኳࠠඔᛤᕓ໔อයճ౗܈ᕓ໔ᇻයճ౗ޑᒿᐒၸำǴӵ</a:t>
            </a:r>
          </a:p>
          <a:p>
            <a:pPr/>
            <a:r>
              <a:rPr sz="2400" b="1">
                <a:solidFill>
                  <a:srgbClr val="323232"/>
                </a:solidFill>
                <a:latin typeface="微軟正黑體"/>
              </a:rPr>
              <a:t>Vaiscek</a:t>
            </a:r>
          </a:p>
          <a:p>
            <a:pPr/>
            <a:r>
              <a:rPr sz="2400" b="1">
                <a:solidFill>
                  <a:srgbClr val="323232"/>
                </a:solidFill>
                <a:latin typeface="微軟正黑體"/>
              </a:rPr>
              <a:t>ǵ</a:t>
            </a:r>
          </a:p>
          <a:p>
            <a:pPr/>
            <a:r>
              <a:rPr sz="2400" b="1">
                <a:solidFill>
                  <a:srgbClr val="323232"/>
                </a:solidFill>
                <a:latin typeface="微軟正黑體"/>
              </a:rPr>
              <a:t>Hull-</a:t>
            </a:r>
          </a:p>
          <a:p>
            <a:pPr/>
            <a:r>
              <a:rPr sz="2400" b="1">
                <a:solidFill>
                  <a:srgbClr val="323232"/>
                </a:solidFill>
                <a:latin typeface="微軟正黑體"/>
              </a:rPr>
              <a:t>White</a:t>
            </a:r>
          </a:p>
          <a:p>
            <a:pPr/>
            <a:r>
              <a:rPr sz="2400" b="1">
                <a:solidFill>
                  <a:srgbClr val="323232"/>
                </a:solidFill>
                <a:latin typeface="微軟正黑體"/>
              </a:rPr>
              <a:t>ǵ</a:t>
            </a:r>
          </a:p>
          <a:p>
            <a:pPr/>
            <a:r>
              <a:rPr sz="2400" b="1">
                <a:solidFill>
                  <a:srgbClr val="323232"/>
                </a:solidFill>
                <a:latin typeface="微軟正黑體"/>
              </a:rPr>
              <a:t>HJM</a:t>
            </a:r>
          </a:p>
          <a:p>
            <a:pPr/>
            <a:r>
              <a:rPr sz="2400" b="1">
                <a:solidFill>
                  <a:srgbClr val="323232"/>
                </a:solidFill>
                <a:latin typeface="微軟正黑體"/>
              </a:rPr>
              <a:t>฻Ƕҗܭ೭٤ճ౗ࢂคݤவ੿ჴѱ൑ᢀჸڗளǴǴӢԜԾ</a:t>
            </a:r>
          </a:p>
          <a:p>
            <a:pPr/>
            <a:r>
              <a:rPr sz="2400" b="1">
                <a:solidFill>
                  <a:srgbClr val="323232"/>
                </a:solidFill>
                <a:latin typeface="微軟正黑體"/>
              </a:rPr>
              <a:t>1997</a:t>
            </a:r>
          </a:p>
          <a:p>
            <a:pPr/>
            <a:r>
              <a:rPr sz="2400" b="1">
                <a:solidFill>
                  <a:srgbClr val="323232"/>
                </a:solidFill>
                <a:latin typeface="微軟正黑體"/>
              </a:rPr>
              <a:t>ԃ</a:t>
            </a:r>
          </a:p>
          <a:p>
            <a:pPr/>
            <a:r>
              <a:rPr sz="2400" b="1">
                <a:solidFill>
                  <a:srgbClr val="323232"/>
                </a:solidFill>
                <a:latin typeface="微軟正黑體"/>
              </a:rPr>
              <a:t>Brace</a:t>
            </a:r>
          </a:p>
          <a:p>
            <a:pPr/>
            <a:r>
              <a:rPr sz="2400" b="1">
                <a:solidFill>
                  <a:srgbClr val="323232"/>
                </a:solidFill>
                <a:latin typeface="微軟正黑體"/>
              </a:rPr>
              <a:t>ǵ</a:t>
            </a:r>
          </a:p>
          <a:p>
            <a:pPr/>
            <a:r>
              <a:rPr sz="2400" b="1">
                <a:solidFill>
                  <a:srgbClr val="323232"/>
                </a:solidFill>
                <a:latin typeface="微軟正黑體"/>
              </a:rPr>
              <a:t>Gatarek</a:t>
            </a:r>
          </a:p>
          <a:p>
            <a:pPr/>
            <a:r>
              <a:rPr sz="2400" b="1">
                <a:solidFill>
                  <a:srgbClr val="323232"/>
                </a:solidFill>
                <a:latin typeface="微軟正黑體"/>
              </a:rPr>
              <a:t>Ϸ</a:t>
            </a:r>
          </a:p>
          <a:p>
            <a:pPr/>
            <a:r>
              <a:rPr sz="2400" b="1">
                <a:solidFill>
                  <a:srgbClr val="323232"/>
                </a:solidFill>
                <a:latin typeface="微軟正黑體"/>
              </a:rPr>
              <a:t>Musiela(BGM)</a:t>
            </a:r>
          </a:p>
          <a:p>
            <a:pPr/>
            <a:r>
              <a:rPr sz="2400" b="1">
                <a:solidFill>
                  <a:srgbClr val="323232"/>
                </a:solidFill>
                <a:latin typeface="微軟正黑體"/>
              </a:rPr>
              <a:t>ගр</a:t>
            </a:r>
          </a:p>
          <a:p>
            <a:pPr/>
            <a:r>
              <a:rPr sz="2400" b="1">
                <a:solidFill>
                  <a:srgbClr val="323232"/>
                </a:solidFill>
                <a:latin typeface="微軟正黑體"/>
              </a:rPr>
              <a:t>LIBOR</a:t>
            </a:r>
          </a:p>
          <a:p>
            <a:pPr/>
            <a:r>
              <a:rPr sz="2400" b="1">
                <a:solidFill>
                  <a:srgbClr val="323232"/>
                </a:solidFill>
                <a:latin typeface="微軟正黑體"/>
              </a:rPr>
              <a:t>ѱ൑ኳࠠ</a:t>
            </a:r>
          </a:p>
          <a:p>
            <a:pPr/>
            <a:r>
              <a:rPr sz="2400" b="1">
                <a:solidFill>
                  <a:srgbClr val="323232"/>
                </a:solidFill>
                <a:latin typeface="微軟正黑體"/>
              </a:rPr>
              <a:t>(LIBOR Market Model)</a:t>
            </a:r>
          </a:p>
          <a:p>
            <a:pPr/>
            <a:r>
              <a:rPr sz="2400" b="1">
                <a:solidFill>
                  <a:srgbClr val="323232"/>
                </a:solidFill>
                <a:latin typeface="微軟正黑體"/>
              </a:rPr>
              <a:t>ǶԜኳࠠࢂਥᏵѱ൑</a:t>
            </a:r>
          </a:p>
          <a:p>
            <a:pPr/>
            <a:r>
              <a:rPr sz="2400" b="1">
                <a:solidFill>
                  <a:srgbClr val="323232"/>
                </a:solidFill>
                <a:latin typeface="微軟正黑體"/>
              </a:rPr>
              <a:t>΢ᢀჸளډޑࡰ኱ճ౗ǴԶߚܜຝόӸӧޑᕓ໔อයճ౗Ϸᕓ໔ᇻයճ౗Ǵ܌а೸ၸѱ൑</a:t>
            </a:r>
          </a:p>
          <a:p>
            <a:pPr/>
            <a:r>
              <a:rPr sz="2400" b="1">
                <a:solidFill>
                  <a:srgbClr val="323232"/>
                </a:solidFill>
                <a:latin typeface="微軟正黑體"/>
              </a:rPr>
              <a:t>ၗ਑ջёඔॊҞ߻ޑѱ൑ճ౗ය໔่ᄬᆶճ౗ݢ୏่ᄬǴε൯ቚуౢࠔۓሽޑྗዴ܄Ƕҗ</a:t>
            </a:r>
          </a:p>
          <a:p>
            <a:pPr/>
            <a:r>
              <a:rPr sz="2400" b="1">
                <a:solidFill>
                  <a:srgbClr val="323232"/>
                </a:solidFill>
                <a:latin typeface="微軟正黑體"/>
              </a:rPr>
              <a:t>ܭ</a:t>
            </a:r>
          </a:p>
          <a:p>
            <a:pPr/>
            <a:r>
              <a:rPr sz="2400" b="1">
                <a:solidFill>
                  <a:srgbClr val="323232"/>
                </a:solidFill>
                <a:latin typeface="微軟正黑體"/>
              </a:rPr>
              <a:t>CDRA</a:t>
            </a:r>
          </a:p>
          <a:p>
            <a:pPr/>
            <a:r>
              <a:rPr sz="2400" b="1">
                <a:solidFill>
                  <a:srgbClr val="323232"/>
                </a:solidFill>
                <a:latin typeface="微軟正黑體"/>
              </a:rPr>
              <a:t>߯аೱ่ߏϺය</a:t>
            </a:r>
          </a:p>
          <a:p>
            <a:pPr/>
            <a:r>
              <a:rPr sz="2400" b="1">
                <a:solidFill>
                  <a:srgbClr val="323232"/>
                </a:solidFill>
                <a:latin typeface="微軟正黑體"/>
              </a:rPr>
              <a:t>CMS</a:t>
            </a:r>
          </a:p>
          <a:p>
            <a:pPr/>
            <a:r>
              <a:rPr sz="2400" b="1">
                <a:solidFill>
                  <a:srgbClr val="323232"/>
                </a:solidFill>
                <a:latin typeface="微軟正黑體"/>
              </a:rPr>
              <a:t>ճ౗բࣁ኱ޑǴӢࡺჹܭځճ౗ޑኳᔕӧ٬Ҕ</a:t>
            </a:r>
          </a:p>
          <a:p>
            <a:pPr/>
            <a:r>
              <a:rPr sz="2400" b="1">
                <a:solidFill>
                  <a:srgbClr val="323232"/>
                </a:solidFill>
                <a:latin typeface="微軟正黑體"/>
              </a:rPr>
              <a:t>LMM</a:t>
            </a:r>
          </a:p>
          <a:p>
            <a:pPr/>
            <a:r>
              <a:rPr sz="2400" b="1">
                <a:solidFill>
                  <a:srgbClr val="323232"/>
                </a:solidFill>
                <a:latin typeface="微軟正黑體"/>
              </a:rPr>
              <a:t>ኳࠠ</a:t>
            </a:r>
          </a:p>
          <a:p>
            <a:pPr/>
            <a:r>
              <a:rPr sz="2400" b="1">
                <a:solidFill>
                  <a:srgbClr val="323232"/>
                </a:solidFill>
                <a:latin typeface="微軟正黑體"/>
              </a:rPr>
              <a:t>΢ૈ୼׳уྗዴǶ</a:t>
            </a:r>
          </a:p>
          <a:p>
            <a:pPr/>
            <a:r>
              <a:rPr sz="2400" b="1">
                <a:solidFill>
                  <a:srgbClr val="323232"/>
                </a:solidFill>
                <a:latin typeface="微軟正黑體"/>
              </a:rPr>
              <a:t>1</a:t>
            </a:r>
          </a:p>
          <a:p>
            <a:pPr/>
            <a:r>
              <a:rPr sz="2400" b="1">
                <a:solidFill>
                  <a:srgbClr val="323232"/>
                </a:solidFill>
                <a:latin typeface="微軟正黑體"/>
              </a:rPr>
              <a:t>ǵ</a:t>
            </a:r>
          </a:p>
          <a:p>
            <a:pPr/>
            <a:r>
              <a:rPr sz="2400" b="1">
                <a:solidFill>
                  <a:srgbClr val="323232"/>
                </a:solidFill>
                <a:latin typeface="微軟正黑體"/>
              </a:rPr>
              <a:t>LMM</a:t>
            </a:r>
          </a:p>
          <a:p>
            <a:pPr/>
            <a:r>
              <a:rPr sz="2400" b="1">
                <a:solidFill>
                  <a:srgbClr val="323232"/>
                </a:solidFill>
                <a:latin typeface="微軟正黑體"/>
              </a:rPr>
              <a:t>ኳࠠ</a:t>
            </a:r>
          </a:p>
          <a:p>
            <a:pPr/>
            <a:r>
              <a:rPr sz="2400" b="1">
                <a:solidFill>
                  <a:srgbClr val="323232"/>
                </a:solidFill>
                <a:latin typeface="微軟正黑體"/>
              </a:rPr>
              <a:t>ଷ೛ךॺԖ΋ਔ໔ׇӈǴ</a:t>
            </a:r>
          </a:p>
          <a:p>
            <a:pPr/>
            <a:r>
              <a:rPr sz="2400" b="1">
                <a:solidFill>
                  <a:srgbClr val="323232"/>
                </a:solidFill>
                <a:latin typeface="微軟正黑體"/>
              </a:rPr>
              <a:t>0 =</a:t>
            </a:r>
          </a:p>
          <a:p>
            <a:pPr lvl="1"/>
            <a:r>
              <a:rPr sz="1800">
                <a:solidFill>
                  <a:srgbClr val="323232"/>
                </a:solidFill>
                <a:latin typeface="微軟正黑體"/>
              </a:rPr>
              <a:t>• !</a:t>
            </a:r>
          </a:p>
          <a:p>
            <a:pPr/>
            <a:r>
              <a:rPr sz="2400" b="1">
                <a:solidFill>
                  <a:srgbClr val="323232"/>
                </a:solidFill>
                <a:latin typeface="微軟正黑體"/>
              </a:rPr>
              <a:t>&lt;</a:t>
            </a:r>
          </a:p>
          <a:p>
            <a:pPr lvl="1"/>
            <a:r>
              <a:rPr sz="1800">
                <a:solidFill>
                  <a:srgbClr val="323232"/>
                </a:solidFill>
                <a:latin typeface="微軟正黑體"/>
              </a:rPr>
              <a:t>• "</a:t>
            </a:r>
          </a:p>
          <a:p>
            <a:pPr/>
            <a:r>
              <a:rPr sz="2400" b="1">
                <a:solidFill>
                  <a:srgbClr val="323232"/>
                </a:solidFill>
                <a:latin typeface="微軟正黑體"/>
              </a:rPr>
              <a:t>&lt; # &lt;</a:t>
            </a:r>
          </a:p>
          <a:p>
            <a:pPr lvl="1"/>
            <a:r>
              <a:rPr sz="1800">
                <a:solidFill>
                  <a:srgbClr val="323232"/>
                </a:solidFill>
                <a:latin typeface="微軟正黑體"/>
              </a:rPr>
              <a:t>• $%"</a:t>
            </a:r>
          </a:p>
          <a:p>
            <a:pPr/>
            <a:r>
              <a:rPr sz="2400" b="1">
                <a:solidFill>
                  <a:srgbClr val="323232"/>
                </a:solidFill>
                <a:latin typeface="微軟正黑體"/>
              </a:rPr>
              <a:t>Ǵз</a:t>
            </a:r>
          </a:p>
          <a:p>
            <a:pPr/>
            <a:r>
              <a:rPr sz="2400" b="1">
                <a:solidFill>
                  <a:srgbClr val="323232"/>
                </a:solidFill>
                <a:latin typeface="微軟正黑體"/>
              </a:rPr>
              <a:t>&amp;</a:t>
            </a:r>
          </a:p>
          <a:p>
            <a:pPr lvl="1"/>
            <a:r>
              <a:rPr sz="1800">
                <a:solidFill>
                  <a:srgbClr val="323232"/>
                </a:solidFill>
                <a:latin typeface="微軟正黑體"/>
              </a:rPr>
              <a:t>• '</a:t>
            </a:r>
          </a:p>
          <a:p>
            <a:pPr/>
            <a:r>
              <a:rPr sz="2400" b="1">
                <a:solidFill>
                  <a:srgbClr val="323232"/>
                </a:solidFill>
                <a:latin typeface="微軟正黑體"/>
              </a:rPr>
              <a:t>=</a:t>
            </a:r>
          </a:p>
          <a:p>
            <a:pPr lvl="1"/>
            <a:r>
              <a:rPr sz="1800">
                <a:solidFill>
                  <a:srgbClr val="323232"/>
                </a:solidFill>
                <a:latin typeface="微軟正黑體"/>
              </a:rPr>
              <a:t>• '%"</a:t>
            </a:r>
          </a:p>
          <a:p>
            <a:pPr/>
            <a:r>
              <a:rPr sz="2400" b="1">
                <a:solidFill>
                  <a:srgbClr val="323232"/>
                </a:solidFill>
                <a:latin typeface="微軟正黑體"/>
              </a:rPr>
              <a:t>(</a:t>
            </a:r>
          </a:p>
          <a:p>
            <a:pPr lvl="1"/>
            <a:r>
              <a:rPr sz="1800">
                <a:solidFill>
                  <a:srgbClr val="323232"/>
                </a:solidFill>
                <a:latin typeface="微軟正黑體"/>
              </a:rPr>
              <a:t>• '</a:t>
            </a:r>
          </a:p>
          <a:p>
            <a:pPr/>
            <a:r>
              <a:rPr sz="2400" b="1">
                <a:solidFill>
                  <a:srgbClr val="323232"/>
                </a:solidFill>
                <a:latin typeface="微軟正黑體"/>
              </a:rPr>
              <a:t>Ǵ</a:t>
            </a:r>
          </a:p>
          <a:p>
            <a:pPr/>
            <a:r>
              <a:rPr sz="2400" b="1">
                <a:solidFill>
                  <a:srgbClr val="323232"/>
                </a:solidFill>
                <a:latin typeface="微軟正黑體"/>
              </a:rPr>
              <a:t>)*+,  -</a:t>
            </a:r>
          </a:p>
          <a:p>
            <a:pPr/>
            <a:r>
              <a:rPr sz="2400" b="1">
                <a:solidFill>
                  <a:srgbClr val="323232"/>
                </a:solidFill>
                <a:latin typeface="微軟正黑體"/>
              </a:rPr>
              <a:t>߄</a:t>
            </a:r>
          </a:p>
          <a:p>
            <a:pPr/>
            <a:r>
              <a:rPr sz="2400" b="1">
                <a:solidFill>
                  <a:srgbClr val="323232"/>
                </a:solidFill>
                <a:latin typeface="微軟正黑體"/>
              </a:rPr>
              <a:t>Ңډයܭ</a:t>
            </a:r>
          </a:p>
          <a:p>
            <a:pPr/>
            <a:r>
              <a:rPr sz="2400" b="1">
                <a:solidFill>
                  <a:srgbClr val="323232"/>
                </a:solidFill>
                <a:latin typeface="微軟正黑體"/>
              </a:rPr>
              <a:t>ޑ႟৲໸چܭ</a:t>
            </a:r>
          </a:p>
          <a:p>
            <a:pPr/>
            <a:r>
              <a:rPr sz="2400" b="1">
                <a:solidFill>
                  <a:srgbClr val="323232"/>
                </a:solidFill>
                <a:latin typeface="微軟正黑體"/>
              </a:rPr>
              <a:t>+</a:t>
            </a:r>
          </a:p>
          <a:p>
            <a:pPr/>
            <a:r>
              <a:rPr sz="2400" b="1">
                <a:solidFill>
                  <a:srgbClr val="323232"/>
                </a:solidFill>
                <a:latin typeface="微軟正黑體"/>
              </a:rPr>
              <a:t>ਔޑ໸چሽ਱ǶࣁΑᙁϯኳࠠǴଷ೛܌Ԗ</a:t>
            </a:r>
          </a:p>
          <a:p>
            <a:pPr/>
            <a:r>
              <a:rPr sz="2400" b="1">
                <a:solidFill>
                  <a:srgbClr val="323232"/>
                </a:solidFill>
                <a:latin typeface="微軟正黑體"/>
              </a:rPr>
              <a:t>&amp;</a:t>
            </a:r>
          </a:p>
          <a:p>
            <a:pPr lvl="1"/>
            <a:r>
              <a:rPr sz="1800">
                <a:solidFill>
                  <a:srgbClr val="323232"/>
                </a:solidFill>
                <a:latin typeface="微軟正黑體"/>
              </a:rPr>
              <a:t>• '</a:t>
            </a:r>
          </a:p>
          <a:p>
            <a:pPr/>
            <a:r>
              <a:rPr sz="2400" b="1">
                <a:solidFill>
                  <a:srgbClr val="323232"/>
                </a:solidFill>
                <a:latin typeface="微軟正黑體"/>
              </a:rPr>
              <a:t>= &amp;</a:t>
            </a:r>
          </a:p>
          <a:p>
            <a:pPr/>
            <a:r>
              <a:rPr sz="2400" b="1">
                <a:solidFill>
                  <a:srgbClr val="323232"/>
                </a:solidFill>
                <a:latin typeface="微軟正黑體"/>
              </a:rPr>
              <a:t>Ƕз</a:t>
            </a:r>
          </a:p>
          <a:p>
            <a:pPr/>
            <a:r>
              <a:rPr sz="2400" b="1">
                <a:solidFill>
                  <a:srgbClr val="323232"/>
                </a:solidFill>
                <a:latin typeface="微軟正黑體"/>
              </a:rPr>
              <a:t>.*+,  -</a:t>
            </a:r>
          </a:p>
          <a:p>
            <a:pPr/>
            <a:r>
              <a:rPr sz="2400" b="1">
                <a:solidFill>
                  <a:srgbClr val="323232"/>
                </a:solidFill>
                <a:latin typeface="微軟正黑體"/>
              </a:rPr>
              <a:t>߄Ң</a:t>
            </a:r>
          </a:p>
          <a:p>
            <a:pPr/>
            <a:r>
              <a:rPr sz="2400" b="1">
                <a:solidFill>
                  <a:srgbClr val="323232"/>
                </a:solidFill>
                <a:latin typeface="微軟正黑體"/>
              </a:rPr>
              <a:t>Կ</a:t>
            </a:r>
          </a:p>
          <a:p>
            <a:pPr/>
            <a:r>
              <a:rPr sz="2400" b="1">
                <a:solidFill>
                  <a:srgbClr val="323232"/>
                </a:solidFill>
                <a:latin typeface="微軟正黑體"/>
              </a:rPr>
              <a:t>/ &amp;</a:t>
            </a:r>
          </a:p>
          <a:p>
            <a:pPr/>
            <a:r>
              <a:rPr sz="2400" b="1">
                <a:solidFill>
                  <a:srgbClr val="323232"/>
                </a:solidFill>
                <a:latin typeface="微軟正黑體"/>
              </a:rPr>
              <a:t>ޑᇻයճ౗ܭ</a:t>
            </a:r>
          </a:p>
          <a:p>
            <a:pPr/>
            <a:r>
              <a:rPr sz="2400" b="1">
                <a:solidFill>
                  <a:srgbClr val="323232"/>
                </a:solidFill>
                <a:latin typeface="微軟正黑體"/>
              </a:rPr>
              <a:t>t</a:t>
            </a:r>
          </a:p>
          <a:p>
            <a:pPr/>
            <a:r>
              <a:rPr sz="2400" b="1">
                <a:solidFill>
                  <a:srgbClr val="323232"/>
                </a:solidFill>
                <a:latin typeface="微軟正黑體"/>
              </a:rPr>
              <a:t>ਔޑሽ਱ǴਥᏵค঺ճচ߾Ǵ</a:t>
            </a:r>
          </a:p>
          <a:p>
            <a:pPr/>
            <a:r>
              <a:rPr sz="2400" b="1">
                <a:solidFill>
                  <a:srgbClr val="323232"/>
                </a:solidFill>
                <a:latin typeface="微軟正黑體"/>
              </a:rPr>
              <a:t>.*+,  - =</a:t>
            </a:r>
          </a:p>
          <a:p>
            <a:pPr/>
            <a:r>
              <a:rPr sz="2400" b="1">
                <a:solidFill>
                  <a:srgbClr val="323232"/>
                </a:solidFill>
                <a:latin typeface="微軟正黑體"/>
              </a:rPr>
              <a:t>)*+,  -</a:t>
            </a:r>
          </a:p>
          <a:p>
            <a:pPr/>
            <a:r>
              <a:rPr sz="2400" b="1">
                <a:solidFill>
                  <a:srgbClr val="323232"/>
                </a:solidFill>
                <a:latin typeface="微軟正黑體"/>
              </a:rPr>
              <a:t>)*+,  / &amp;-</a:t>
            </a:r>
          </a:p>
          <a:p>
            <a:pPr/>
            <a:r>
              <a:rPr sz="2400" b="1">
                <a:solidFill>
                  <a:srgbClr val="323232"/>
                </a:solidFill>
                <a:latin typeface="微軟正黑體"/>
              </a:rPr>
              <a:t>( 1</a:t>
            </a:r>
          </a:p>
          <a:p>
            <a:pPr/>
            <a:r>
              <a:rPr sz="2400" b="1">
                <a:solidFill>
                  <a:srgbClr val="323232"/>
                </a:solidFill>
                <a:latin typeface="微軟正黑體"/>
              </a:rPr>
              <a:t>&amp;</a:t>
            </a:r>
          </a:p>
          <a:p>
            <a:pPr/>
            <a:r>
              <a:rPr sz="2400" b="1">
                <a:solidFill>
                  <a:srgbClr val="323232"/>
                </a:solidFill>
                <a:latin typeface="微軟正黑體"/>
              </a:rPr>
              <a:t>Ǵ</a:t>
            </a:r>
          </a:p>
          <a:p>
            <a:pPr/>
            <a:r>
              <a:rPr sz="2400" b="1">
                <a:solidFill>
                  <a:srgbClr val="323232"/>
                </a:solidFill>
                <a:latin typeface="微軟正黑體"/>
              </a:rPr>
              <a:t>җܭᇻයճ౗</a:t>
            </a:r>
          </a:p>
          <a:p>
            <a:pPr/>
            <a:r>
              <a:rPr sz="2400" b="1">
                <a:solidFill>
                  <a:srgbClr val="323232"/>
                </a:solidFill>
                <a:latin typeface="微軟正黑體"/>
              </a:rPr>
              <a:t>.*+,  -</a:t>
            </a:r>
          </a:p>
          <a:p>
            <a:pPr/>
            <a:r>
              <a:rPr sz="2400" b="1">
                <a:solidFill>
                  <a:srgbClr val="323232"/>
                </a:solidFill>
                <a:latin typeface="微軟正黑體"/>
              </a:rPr>
              <a:t>཮ܭ</a:t>
            </a:r>
          </a:p>
          <a:p>
            <a:pPr/>
            <a:r>
              <a:rPr sz="2400" b="1">
                <a:solidFill>
                  <a:srgbClr val="323232"/>
                </a:solidFill>
                <a:latin typeface="微軟正黑體"/>
              </a:rPr>
              <a:t>T</a:t>
            </a:r>
          </a:p>
          <a:p>
            <a:pPr/>
            <a:r>
              <a:rPr sz="2400" b="1">
                <a:solidFill>
                  <a:srgbClr val="323232"/>
                </a:solidFill>
                <a:latin typeface="微軟正黑體"/>
              </a:rPr>
              <a:t>ਔ຾Չख़೛Ǵӧ೭ϐࡕஒ཮ԋࣁۓॶǶࡺࣁᙁϯ኱૶Ǵз</a:t>
            </a:r>
          </a:p>
          <a:p>
            <a:pPr/>
            <a:r>
              <a:rPr sz="2400" b="1">
                <a:solidFill>
                  <a:srgbClr val="323232"/>
                </a:solidFill>
                <a:latin typeface="微軟正黑體"/>
              </a:rPr>
              <a:t>.2+,</a:t>
            </a:r>
          </a:p>
          <a:p>
            <a:pPr lvl="1"/>
            <a:r>
              <a:rPr sz="1800">
                <a:solidFill>
                  <a:srgbClr val="323232"/>
                </a:solidFill>
                <a:latin typeface="微軟正黑體"/>
              </a:rPr>
              <a:t>• '</a:t>
            </a:r>
          </a:p>
          <a:p>
            <a:pPr/>
            <a:r>
              <a:rPr sz="2400" b="1">
                <a:solidFill>
                  <a:srgbClr val="323232"/>
                </a:solidFill>
                <a:latin typeface="微軟正黑體"/>
              </a:rPr>
              <a:t>3</a:t>
            </a:r>
          </a:p>
          <a:p>
            <a:pPr/>
            <a:r>
              <a:rPr sz="2400" b="1">
                <a:solidFill>
                  <a:srgbClr val="323232"/>
                </a:solidFill>
                <a:latin typeface="微軟正黑體"/>
              </a:rPr>
              <a:t>૶ࣁ</a:t>
            </a:r>
          </a:p>
          <a:p>
            <a:pPr/>
            <a:r>
              <a:rPr sz="2400" b="1">
                <a:solidFill>
                  <a:srgbClr val="323232"/>
                </a:solidFill>
                <a:latin typeface="微軟正黑體"/>
              </a:rPr>
              <a:t>.</a:t>
            </a:r>
          </a:p>
          <a:p>
            <a:pPr lvl="1"/>
            <a:r>
              <a:rPr sz="1800">
                <a:solidFill>
                  <a:srgbClr val="323232"/>
                </a:solidFill>
                <a:latin typeface="微軟正黑體"/>
              </a:rPr>
              <a:t>• '</a:t>
            </a:r>
          </a:p>
          <a:p>
            <a:pPr/>
            <a:r>
              <a:rPr sz="2400" b="1">
                <a:solidFill>
                  <a:srgbClr val="323232"/>
                </a:solidFill>
                <a:latin typeface="微軟正黑體"/>
              </a:rPr>
              <a:t>*+-</a:t>
            </a:r>
          </a:p>
          <a:p>
            <a:pPr/>
            <a:r>
              <a:rPr sz="2400" b="1">
                <a:solidFill>
                  <a:srgbClr val="323232"/>
                </a:solidFill>
                <a:latin typeface="微軟正黑體"/>
              </a:rPr>
              <a:t>ǴаϷ</a:t>
            </a:r>
          </a:p>
          <a:p>
            <a:pPr/>
            <a:r>
              <a:rPr sz="2400" b="1">
                <a:solidFill>
                  <a:srgbClr val="323232"/>
                </a:solidFill>
                <a:latin typeface="微軟正黑體"/>
              </a:rPr>
              <a:t>)*+,</a:t>
            </a:r>
          </a:p>
          <a:p>
            <a:pPr lvl="1"/>
            <a:r>
              <a:rPr sz="1800">
                <a:solidFill>
                  <a:srgbClr val="323232"/>
                </a:solidFill>
                <a:latin typeface="微軟正黑體"/>
              </a:rPr>
              <a:t>• '</a:t>
            </a:r>
          </a:p>
          <a:p>
            <a:pPr/>
            <a:r>
              <a:rPr sz="2400" b="1">
                <a:solidFill>
                  <a:srgbClr val="323232"/>
                </a:solidFill>
                <a:latin typeface="微軟正黑體"/>
              </a:rPr>
              <a:t>-</a:t>
            </a:r>
          </a:p>
          <a:p>
            <a:pPr/>
            <a:r>
              <a:rPr sz="2400" b="1">
                <a:solidFill>
                  <a:srgbClr val="323232"/>
                </a:solidFill>
                <a:latin typeface="微軟正黑體"/>
              </a:rPr>
              <a:t>૶ࣁ</a:t>
            </a:r>
          </a:p>
          <a:p>
            <a:pPr/>
            <a:r>
              <a:rPr sz="2400" b="1">
                <a:solidFill>
                  <a:srgbClr val="323232"/>
                </a:solidFill>
                <a:latin typeface="微軟正黑體"/>
              </a:rPr>
              <a:t>)</a:t>
            </a:r>
          </a:p>
          <a:p>
            <a:pPr lvl="1"/>
            <a:r>
              <a:rPr sz="1800">
                <a:solidFill>
                  <a:srgbClr val="323232"/>
                </a:solidFill>
                <a:latin typeface="微軟正黑體"/>
              </a:rPr>
              <a:t>• '</a:t>
            </a:r>
          </a:p>
          <a:p>
            <a:pPr/>
            <a:r>
              <a:rPr sz="2400" b="1">
                <a:solidFill>
                  <a:srgbClr val="323232"/>
                </a:solidFill>
                <a:latin typeface="微軟正黑體"/>
              </a:rPr>
              <a:t>*+-</a:t>
            </a:r>
          </a:p>
          <a:p>
            <a:pPr/>
            <a:r>
              <a:rPr sz="2400" b="1">
                <a:solidFill>
                  <a:srgbClr val="323232"/>
                </a:solidFill>
                <a:latin typeface="微軟正黑體"/>
              </a:rPr>
              <a:t>Ƕ</a:t>
            </a:r>
          </a:p>
          <a:p>
            <a:pPr/>
            <a:r>
              <a:rPr sz="2400" b="1">
                <a:solidFill>
                  <a:srgbClr val="323232"/>
                </a:solidFill>
                <a:latin typeface="微軟正黑體"/>
              </a:rPr>
              <a:t>ךॺа</a:t>
            </a:r>
          </a:p>
          <a:p>
            <a:pPr/>
            <a:r>
              <a:rPr sz="2400" b="1">
                <a:solidFill>
                  <a:srgbClr val="323232"/>
                </a:solidFill>
                <a:latin typeface="微軟正黑體"/>
              </a:rPr>
              <a:t>Spot LIBOR</a:t>
            </a:r>
          </a:p>
          <a:p>
            <a:pPr/>
            <a:r>
              <a:rPr sz="2400" b="1">
                <a:solidFill>
                  <a:srgbClr val="323232"/>
                </a:solidFill>
                <a:latin typeface="微軟正黑體"/>
              </a:rPr>
              <a:t>ෳࡋޜ໔բࣁኳࠠჴբෳࡋǴࡺӧԜᒧҔ</a:t>
            </a:r>
          </a:p>
          <a:p>
            <a:pPr/>
            <a:r>
              <a:rPr sz="2400" b="1">
                <a:solidFill>
                  <a:srgbClr val="323232"/>
                </a:solidFill>
                <a:latin typeface="微軟正黑體"/>
              </a:rPr>
              <a:t>Money Market</a:t>
            </a:r>
          </a:p>
          <a:p>
            <a:pPr/>
            <a:r>
              <a:rPr sz="2400" b="1">
                <a:solidFill>
                  <a:srgbClr val="323232"/>
                </a:solidFill>
                <a:latin typeface="微軟正黑體"/>
              </a:rPr>
              <a:t>Account</a:t>
            </a:r>
          </a:p>
          <a:p>
            <a:pPr/>
            <a:r>
              <a:rPr sz="2400" b="1">
                <a:solidFill>
                  <a:srgbClr val="323232"/>
                </a:solidFill>
                <a:latin typeface="微軟正黑體"/>
              </a:rPr>
              <a:t>բࣁीሽൂՏǴځܭ</a:t>
            </a:r>
          </a:p>
          <a:p>
            <a:pPr/>
            <a:r>
              <a:rPr sz="2400" b="1">
                <a:solidFill>
                  <a:srgbClr val="323232"/>
                </a:solidFill>
                <a:latin typeface="微軟正黑體"/>
              </a:rPr>
              <a:t>t</a:t>
            </a:r>
          </a:p>
          <a:p>
            <a:pPr/>
            <a:r>
              <a:rPr sz="2400" b="1">
                <a:solidFill>
                  <a:srgbClr val="323232"/>
                </a:solidFill>
                <a:latin typeface="微軟正黑體"/>
              </a:rPr>
              <a:t>ਔᗺޑሽॶࣁ</a:t>
            </a:r>
          </a:p>
          <a:p>
            <a:pPr/>
            <a:r>
              <a:rPr sz="2400" b="1">
                <a:solidFill>
                  <a:srgbClr val="323232"/>
                </a:solidFill>
                <a:latin typeface="微軟正黑體"/>
              </a:rPr>
              <a:t>(!) = "#!, $</a:t>
            </a:r>
          </a:p>
          <a:p>
            <a:pPr lvl="1"/>
            <a:r>
              <a:rPr sz="1800">
                <a:solidFill>
                  <a:srgbClr val="323232"/>
                </a:solidFill>
                <a:latin typeface="微軟正黑體"/>
              </a:rPr>
              <a:t>• %(&amp;)</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#1 + -.</a:t>
            </a:r>
          </a:p>
          <a:p>
            <a:pPr lvl="1"/>
            <a:r>
              <a:rPr sz="1800">
                <a:solidFill>
                  <a:srgbClr val="323232"/>
                </a:solidFill>
                <a:latin typeface="微軟正黑體"/>
              </a:rPr>
              <a:t>• /</a:t>
            </a:r>
          </a:p>
          <a:p>
            <a:pPr/>
            <a:r>
              <a:rPr sz="2400" b="1">
                <a:solidFill>
                  <a:srgbClr val="323232"/>
                </a:solidFill>
                <a:latin typeface="微軟正黑體"/>
              </a:rPr>
              <a:t>($</a:t>
            </a:r>
          </a:p>
          <a:p>
            <a:pPr lvl="1"/>
            <a:r>
              <a:rPr sz="1800">
                <a:solidFill>
                  <a:srgbClr val="323232"/>
                </a:solidFill>
                <a:latin typeface="微軟正黑體"/>
              </a:rPr>
              <a:t>• /</a:t>
            </a:r>
          </a:p>
          <a:p>
            <a:pPr/>
            <a:r>
              <a:rPr sz="2400" b="1">
                <a:solidFill>
                  <a:srgbClr val="323232"/>
                </a:solidFill>
                <a:latin typeface="微軟正黑體"/>
              </a:rPr>
              <a:t>)'</a:t>
            </a:r>
          </a:p>
          <a:p>
            <a:pPr lvl="1"/>
            <a:r>
              <a:rPr sz="1800">
                <a:solidFill>
                  <a:srgbClr val="323232"/>
                </a:solidFill>
                <a:latin typeface="微軟正黑體"/>
              </a:rPr>
              <a:t>• %(&amp;)02</a:t>
            </a:r>
          </a:p>
          <a:p>
            <a:pPr lvl="1"/>
            <a:r>
              <a:rPr sz="1800">
                <a:solidFill>
                  <a:srgbClr val="323232"/>
                </a:solidFill>
                <a:latin typeface="微軟正黑體"/>
              </a:rPr>
              <a:t>• /32</a:t>
            </a:r>
          </a:p>
          <a:p>
            <a:pPr/>
            <a:r>
              <a:rPr sz="2400" b="1">
                <a:solidFill>
                  <a:srgbClr val="323232"/>
                </a:solidFill>
                <a:latin typeface="微軟正黑體"/>
              </a:rPr>
              <a:t>Ǵ</a:t>
            </a:r>
          </a:p>
          <a:p>
            <a:pPr/>
            <a:r>
              <a:rPr sz="2400" b="1">
                <a:solidFill>
                  <a:srgbClr val="323232"/>
                </a:solidFill>
                <a:latin typeface="微軟正黑體"/>
              </a:rPr>
              <a:t>ځύ</a:t>
            </a:r>
          </a:p>
          <a:p>
            <a:pPr/>
            <a:r>
              <a:rPr sz="2400" b="1">
                <a:solidFill>
                  <a:srgbClr val="323232"/>
                </a:solidFill>
                <a:latin typeface="微軟正黑體"/>
              </a:rPr>
              <a:t>4(!)</a:t>
            </a:r>
          </a:p>
          <a:p>
            <a:pPr/>
            <a:r>
              <a:rPr sz="2400" b="1">
                <a:solidFill>
                  <a:srgbClr val="323232"/>
                </a:solidFill>
                <a:latin typeface="微軟正黑體"/>
              </a:rPr>
              <a:t>ࣁ΋ঁ୤΋ᅈى</a:t>
            </a:r>
          </a:p>
          <a:p>
            <a:pPr/>
            <a:r>
              <a:rPr sz="2400" b="1">
                <a:solidFill>
                  <a:srgbClr val="323232"/>
                </a:solidFill>
                <a:latin typeface="微軟正黑體"/>
              </a:rPr>
              <a:t>$</a:t>
            </a:r>
          </a:p>
          <a:p>
            <a:pPr lvl="1"/>
            <a:r>
              <a:rPr sz="1800">
                <a:solidFill>
                  <a:srgbClr val="323232"/>
                </a:solidFill>
                <a:latin typeface="微軟正黑體"/>
              </a:rPr>
              <a:t>• %(&amp;)02</a:t>
            </a:r>
          </a:p>
          <a:p>
            <a:pPr/>
            <a:r>
              <a:rPr sz="2400" b="1">
                <a:solidFill>
                  <a:srgbClr val="323232"/>
                </a:solidFill>
                <a:latin typeface="微軟正黑體"/>
              </a:rPr>
              <a:t>5 !</a:t>
            </a:r>
          </a:p>
          <a:p>
            <a:pPr/>
            <a:r>
              <a:rPr sz="2400" b="1">
                <a:solidFill>
                  <a:srgbClr val="323232"/>
                </a:solidFill>
                <a:latin typeface="微軟正黑體"/>
              </a:rPr>
              <a:t>&lt; $</a:t>
            </a:r>
          </a:p>
          <a:p>
            <a:pPr lvl="1"/>
            <a:r>
              <a:rPr sz="1800">
                <a:solidFill>
                  <a:srgbClr val="323232"/>
                </a:solidFill>
                <a:latin typeface="微軟正黑體"/>
              </a:rPr>
              <a:t>• %(&amp;)</a:t>
            </a:r>
          </a:p>
          <a:p>
            <a:pPr/>
            <a:r>
              <a:rPr sz="2400" b="1">
                <a:solidFill>
                  <a:srgbClr val="323232"/>
                </a:solidFill>
                <a:latin typeface="微軟正黑體"/>
              </a:rPr>
              <a:t>ޑࡰ኱ǶԜीሽൂՏёຎࣁ΋ঁډයܭ</a:t>
            </a:r>
          </a:p>
          <a:p>
            <a:pPr/>
            <a:r>
              <a:rPr sz="2400" b="1">
                <a:solidFill>
                  <a:srgbClr val="323232"/>
                </a:solidFill>
                <a:latin typeface="微軟正黑體"/>
              </a:rPr>
              <a:t>$</a:t>
            </a:r>
          </a:p>
          <a:p>
            <a:pPr lvl="1"/>
            <a:r>
              <a:rPr sz="1800">
                <a:solidFill>
                  <a:srgbClr val="323232"/>
                </a:solidFill>
                <a:latin typeface="微軟正黑體"/>
              </a:rPr>
              <a:t>• 2</a:t>
            </a:r>
          </a:p>
          <a:p>
            <a:pPr/>
            <a:r>
              <a:rPr sz="2400" b="1">
                <a:solidFill>
                  <a:srgbClr val="323232"/>
                </a:solidFill>
                <a:latin typeface="微軟正黑體"/>
              </a:rPr>
              <a:t>ϐ႟৲໸چஒځԏ੻Ϸҁߎόᘐӆ׫ၗܭΠ΋ϺයޔԿ</a:t>
            </a:r>
          </a:p>
          <a:p>
            <a:pPr/>
            <a:r>
              <a:rPr sz="2400" b="1">
                <a:solidFill>
                  <a:srgbClr val="323232"/>
                </a:solidFill>
                <a:latin typeface="微軟正黑體"/>
              </a:rPr>
              <a:t>T</a:t>
            </a:r>
          </a:p>
          <a:p>
            <a:pPr lvl="1"/>
            <a:r>
              <a:rPr sz="1800">
                <a:solidFill>
                  <a:srgbClr val="323232"/>
                </a:solidFill>
                <a:latin typeface="微軟正黑體"/>
              </a:rPr>
              <a:t>• %62</a:t>
            </a:r>
          </a:p>
          <a:p>
            <a:pPr/>
            <a:r>
              <a:rPr sz="2400" b="1">
                <a:solidFill>
                  <a:srgbClr val="323232"/>
                </a:solidFill>
                <a:latin typeface="微軟正黑體"/>
              </a:rPr>
              <a:t>ϐ׫ၗಔӝǶ</a:t>
            </a:r>
          </a:p>
          <a:p>
            <a:pPr/>
            <a:r>
              <a:rPr sz="2400" b="1">
                <a:solidFill>
                  <a:srgbClr val="323232"/>
                </a:solidFill>
                <a:latin typeface="微軟正黑體"/>
              </a:rPr>
              <a:t>୷ܭ</a:t>
            </a:r>
          </a:p>
          <a:p>
            <a:pPr/>
            <a:r>
              <a:rPr sz="2400" b="1">
                <a:solidFill>
                  <a:srgbClr val="323232"/>
                </a:solidFill>
                <a:latin typeface="微軟正黑體"/>
              </a:rPr>
              <a:t>LMM</a:t>
            </a:r>
          </a:p>
          <a:p>
            <a:pPr/>
            <a:r>
              <a:rPr sz="2400" b="1">
                <a:solidFill>
                  <a:srgbClr val="323232"/>
                </a:solidFill>
                <a:latin typeface="微軟正黑體"/>
              </a:rPr>
              <a:t>ࢎᄬΠǴךॺଷ೛ᇻයճ౗ܺவᒿᐒၸำӵΠǴ</a:t>
            </a:r>
          </a:p>
          <a:p>
            <a:pPr/>
            <a:r>
              <a:rPr sz="2400" b="1">
                <a:solidFill>
                  <a:srgbClr val="323232"/>
                </a:solidFill>
                <a:latin typeface="微軟正黑體"/>
              </a:rPr>
              <a:t>7.</a:t>
            </a:r>
          </a:p>
          <a:p>
            <a:pPr lvl="1"/>
            <a:r>
              <a:rPr sz="1800">
                <a:solidFill>
                  <a:srgbClr val="323232"/>
                </a:solidFill>
                <a:latin typeface="微軟正黑體"/>
              </a:rPr>
              <a:t>• /</a:t>
            </a:r>
          </a:p>
          <a:p>
            <a:pPr/>
            <a:r>
              <a:rPr sz="2400" b="1">
                <a:solidFill>
                  <a:srgbClr val="323232"/>
                </a:solidFill>
                <a:latin typeface="微軟正黑體"/>
              </a:rPr>
              <a:t>(!) = 8</a:t>
            </a:r>
          </a:p>
          <a:p>
            <a:pPr lvl="1"/>
            <a:r>
              <a:rPr sz="1800">
                <a:solidFill>
                  <a:srgbClr val="323232"/>
                </a:solidFill>
                <a:latin typeface="微軟正黑體"/>
              </a:rPr>
              <a:t>• /</a:t>
            </a:r>
          </a:p>
          <a:p>
            <a:pPr/>
            <a:r>
              <a:rPr sz="2400" b="1">
                <a:solidFill>
                  <a:srgbClr val="323232"/>
                </a:solidFill>
                <a:latin typeface="微軟正黑體"/>
              </a:rPr>
              <a:t>(.(!), !)(.</a:t>
            </a:r>
          </a:p>
          <a:p>
            <a:pPr lvl="1"/>
            <a:r>
              <a:rPr sz="1800">
                <a:solidFill>
                  <a:srgbClr val="323232"/>
                </a:solidFill>
                <a:latin typeface="微軟正黑體"/>
              </a:rPr>
              <a:t>• /</a:t>
            </a:r>
          </a:p>
          <a:p>
            <a:pPr/>
            <a:r>
              <a:rPr sz="2400" b="1">
                <a:solidFill>
                  <a:srgbClr val="323232"/>
                </a:solidFill>
                <a:latin typeface="微軟正黑體"/>
              </a:rPr>
              <a:t>(!) + 9</a:t>
            </a:r>
          </a:p>
          <a:p>
            <a:pPr lvl="1"/>
            <a:r>
              <a:rPr sz="1800">
                <a:solidFill>
                  <a:srgbClr val="323232"/>
                </a:solidFill>
                <a:latin typeface="微軟正黑體"/>
              </a:rPr>
              <a:t>• /</a:t>
            </a:r>
          </a:p>
          <a:p>
            <a:pPr/>
            <a:r>
              <a:rPr sz="2400" b="1">
                <a:solidFill>
                  <a:srgbClr val="323232"/>
                </a:solidFill>
                <a:latin typeface="微軟正黑體"/>
              </a:rPr>
              <a:t>)7! + :</a:t>
            </a:r>
          </a:p>
          <a:p>
            <a:pPr lvl="1"/>
            <a:r>
              <a:rPr sz="1800">
                <a:solidFill>
                  <a:srgbClr val="323232"/>
                </a:solidFill>
                <a:latin typeface="微軟正黑體"/>
              </a:rPr>
              <a:t>• /</a:t>
            </a:r>
          </a:p>
          <a:p>
            <a:pPr/>
            <a:r>
              <a:rPr sz="2400" b="1">
                <a:solidFill>
                  <a:srgbClr val="323232"/>
                </a:solidFill>
                <a:latin typeface="微軟正黑體"/>
              </a:rPr>
              <a:t>(!)(.</a:t>
            </a:r>
          </a:p>
          <a:p>
            <a:pPr lvl="1"/>
            <a:r>
              <a:rPr sz="1800">
                <a:solidFill>
                  <a:srgbClr val="323232"/>
                </a:solidFill>
                <a:latin typeface="微軟正黑體"/>
              </a:rPr>
              <a:t>• /</a:t>
            </a:r>
          </a:p>
          <a:p>
            <a:pPr/>
            <a:r>
              <a:rPr sz="2400" b="1">
                <a:solidFill>
                  <a:srgbClr val="323232"/>
                </a:solidFill>
                <a:latin typeface="微軟正黑體"/>
              </a:rPr>
              <a:t>(!) + 9</a:t>
            </a:r>
          </a:p>
          <a:p>
            <a:pPr lvl="1"/>
            <a:r>
              <a:rPr sz="1800">
                <a:solidFill>
                  <a:srgbClr val="323232"/>
                </a:solidFill>
                <a:latin typeface="微軟正黑體"/>
              </a:rPr>
              <a:t>• /</a:t>
            </a:r>
          </a:p>
          <a:p>
            <a:pPr/>
            <a:r>
              <a:rPr sz="2400" b="1">
                <a:solidFill>
                  <a:srgbClr val="323232"/>
                </a:solidFill>
                <a:latin typeface="微軟正黑體"/>
              </a:rPr>
              <a:t>)7;</a:t>
            </a:r>
          </a:p>
          <a:p>
            <a:pPr lvl="1"/>
            <a:r>
              <a:rPr sz="1800">
                <a:solidFill>
                  <a:srgbClr val="323232"/>
                </a:solidFill>
                <a:latin typeface="微軟正黑體"/>
              </a:rPr>
              <a:t>• /</a:t>
            </a:r>
          </a:p>
          <a:p>
            <a:pPr/>
            <a:r>
              <a:rPr sz="2400" b="1">
                <a:solidFill>
                  <a:srgbClr val="323232"/>
                </a:solidFill>
                <a:latin typeface="微軟正黑體"/>
              </a:rPr>
              <a:t>(!)</a:t>
            </a:r>
          </a:p>
          <a:p>
            <a:pPr/>
            <a:r>
              <a:rPr sz="2400" b="1">
                <a:solidFill>
                  <a:srgbClr val="323232"/>
                </a:solidFill>
                <a:latin typeface="微軟正黑體"/>
              </a:rPr>
              <a:t>Ǵ</a:t>
            </a:r>
          </a:p>
          <a:p>
            <a:pPr/>
            <a:r>
              <a:rPr sz="2400" b="1">
                <a:solidFill>
                  <a:srgbClr val="323232"/>
                </a:solidFill>
                <a:latin typeface="微軟正黑體"/>
              </a:rPr>
              <a:t>ځύ</a:t>
            </a:r>
          </a:p>
          <a:p>
            <a:pPr/>
            <a:r>
              <a:rPr sz="2400" b="1">
                <a:solidFill>
                  <a:srgbClr val="323232"/>
                </a:solidFill>
                <a:latin typeface="微軟正黑體"/>
              </a:rPr>
              <a:t>:</a:t>
            </a:r>
          </a:p>
          <a:p>
            <a:pPr lvl="1"/>
            <a:r>
              <a:rPr sz="1800">
                <a:solidFill>
                  <a:srgbClr val="323232"/>
                </a:solidFill>
                <a:latin typeface="微軟正黑體"/>
              </a:rPr>
              <a:t>• /</a:t>
            </a:r>
          </a:p>
          <a:p>
            <a:pPr/>
            <a:r>
              <a:rPr sz="2400" b="1">
                <a:solidFill>
                  <a:srgbClr val="323232"/>
                </a:solidFill>
                <a:latin typeface="微軟正黑體"/>
              </a:rPr>
              <a:t>(!)</a:t>
            </a:r>
          </a:p>
          <a:p>
            <a:pPr/>
            <a:r>
              <a:rPr sz="2400" b="1">
                <a:solidFill>
                  <a:srgbClr val="323232"/>
                </a:solidFill>
                <a:latin typeface="微軟正黑體"/>
              </a:rPr>
              <a:t>ࣁς،ۓڄኧǴԶ</a:t>
            </a:r>
          </a:p>
          <a:p>
            <a:pPr/>
            <a:r>
              <a:rPr sz="2400" b="1">
                <a:solidFill>
                  <a:srgbClr val="323232"/>
                </a:solidFill>
                <a:latin typeface="微軟正黑體"/>
              </a:rPr>
              <a:t>9</a:t>
            </a:r>
          </a:p>
          <a:p>
            <a:pPr lvl="1"/>
            <a:r>
              <a:rPr sz="1800">
                <a:solidFill>
                  <a:srgbClr val="323232"/>
                </a:solidFill>
                <a:latin typeface="微軟正黑體"/>
              </a:rPr>
              <a:t>• /</a:t>
            </a:r>
          </a:p>
          <a:p>
            <a:pPr/>
            <a:r>
              <a:rPr sz="2400" b="1">
                <a:solidFill>
                  <a:srgbClr val="323232"/>
                </a:solidFill>
                <a:latin typeface="微軟正黑體"/>
              </a:rPr>
              <a:t>ࣁڰۓត౽தኧǴ</a:t>
            </a:r>
          </a:p>
          <a:p>
            <a:pPr/>
            <a:r>
              <a:rPr sz="2400" b="1">
                <a:solidFill>
                  <a:srgbClr val="323232"/>
                </a:solidFill>
                <a:latin typeface="微軟正黑體"/>
              </a:rPr>
              <a:t>;</a:t>
            </a:r>
          </a:p>
          <a:p>
            <a:pPr lvl="1"/>
            <a:r>
              <a:rPr sz="1800">
                <a:solidFill>
                  <a:srgbClr val="323232"/>
                </a:solidFill>
                <a:latin typeface="微軟正黑體"/>
              </a:rPr>
              <a:t>• /</a:t>
            </a:r>
          </a:p>
          <a:p>
            <a:pPr/>
            <a:r>
              <a:rPr sz="2400" b="1">
                <a:solidFill>
                  <a:srgbClr val="323232"/>
                </a:solidFill>
                <a:latin typeface="微軟正黑體"/>
              </a:rPr>
              <a:t>߾ࣁ</a:t>
            </a:r>
          </a:p>
          <a:p>
            <a:pPr/>
            <a:r>
              <a:rPr sz="2400" b="1">
                <a:solidFill>
                  <a:srgbClr val="323232"/>
                </a:solidFill>
                <a:latin typeface="微軟正黑體"/>
              </a:rPr>
              <a:t>Spot LIBOR martingale</a:t>
            </a:r>
          </a:p>
          <a:p>
            <a:pPr/>
            <a:r>
              <a:rPr sz="2400" b="1">
                <a:solidFill>
                  <a:srgbClr val="323232"/>
                </a:solidFill>
                <a:latin typeface="微軟正黑體"/>
              </a:rPr>
              <a:t>॥ᓀ</a:t>
            </a:r>
          </a:p>
          <a:p>
            <a:pPr/>
            <a:r>
              <a:rPr sz="2400" b="1">
                <a:solidFill>
                  <a:srgbClr val="323232"/>
                </a:solidFill>
                <a:latin typeface="微軟正黑體"/>
              </a:rPr>
              <a:t>ෳࡋΠϐᒿᐒѲਟၮၮ୏Ƕ</a:t>
            </a:r>
          </a:p>
          <a:p>
            <a:pPr/>
            <a:r>
              <a:rPr sz="2400" b="1">
                <a:solidFill>
                  <a:srgbClr val="323232"/>
                </a:solidFill>
                <a:latin typeface="微軟正黑體"/>
              </a:rPr>
              <a:t>.(!)</a:t>
            </a:r>
          </a:p>
          <a:p>
            <a:pPr/>
            <a:r>
              <a:rPr sz="2400" b="1">
                <a:solidFill>
                  <a:srgbClr val="323232"/>
                </a:solidFill>
                <a:latin typeface="微軟正黑體"/>
              </a:rPr>
              <a:t>߄Ң</a:t>
            </a:r>
          </a:p>
          <a:p>
            <a:pPr/>
            <a:r>
              <a:rPr sz="2400" b="1">
                <a:solidFill>
                  <a:srgbClr val="323232"/>
                </a:solidFill>
                <a:latin typeface="微軟正黑體"/>
              </a:rPr>
              <a:t>!</a:t>
            </a:r>
          </a:p>
          <a:p>
            <a:pPr/>
            <a:r>
              <a:rPr sz="2400" b="1">
                <a:solidFill>
                  <a:srgbClr val="323232"/>
                </a:solidFill>
                <a:latin typeface="微軟正黑體"/>
              </a:rPr>
              <a:t>ਔᗺޑᇻයճ౗ރᄊᡂኧǴԶ</a:t>
            </a:r>
          </a:p>
          <a:p>
            <a:pPr/>
            <a:r>
              <a:rPr sz="2400" b="1">
                <a:solidFill>
                  <a:srgbClr val="323232"/>
                </a:solidFill>
                <a:latin typeface="微軟正黑體"/>
              </a:rPr>
              <a:t>8</a:t>
            </a:r>
          </a:p>
          <a:p>
            <a:pPr lvl="1"/>
            <a:r>
              <a:rPr sz="1800">
                <a:solidFill>
                  <a:srgbClr val="323232"/>
                </a:solidFill>
                <a:latin typeface="微軟正黑體"/>
              </a:rPr>
              <a:t>• /</a:t>
            </a:r>
          </a:p>
          <a:p>
            <a:pPr/>
            <a:r>
              <a:rPr sz="2400" b="1">
                <a:solidFill>
                  <a:srgbClr val="323232"/>
                </a:solidFill>
                <a:latin typeface="微軟正黑體"/>
              </a:rPr>
              <a:t>ڄኧ߾໻ᆶค</a:t>
            </a:r>
          </a:p>
          <a:p>
            <a:pPr/>
            <a:r>
              <a:rPr sz="2400" b="1">
                <a:solidFill>
                  <a:srgbClr val="323232"/>
                </a:solidFill>
                <a:latin typeface="微軟正黑體"/>
              </a:rPr>
              <a:t>঺ճచҹԖᜢǶଷ೛Һཀ</a:t>
            </a:r>
          </a:p>
          <a:p>
            <a:pPr/>
            <a:r>
              <a:rPr sz="2400" b="1">
                <a:solidFill>
                  <a:srgbClr val="323232"/>
                </a:solidFill>
                <a:latin typeface="微軟正黑體"/>
              </a:rPr>
              <a:t>;</a:t>
            </a:r>
          </a:p>
          <a:p>
            <a:pPr lvl="1"/>
            <a:r>
              <a:rPr sz="1800">
                <a:solidFill>
                  <a:srgbClr val="323232"/>
                </a:solidFill>
                <a:latin typeface="微軟正黑體"/>
              </a:rPr>
              <a:t>• /</a:t>
            </a:r>
          </a:p>
          <a:p>
            <a:pPr/>
            <a:r>
              <a:rPr sz="2400" b="1">
                <a:solidFill>
                  <a:srgbClr val="323232"/>
                </a:solidFill>
                <a:latin typeface="微軟正黑體"/>
              </a:rPr>
              <a:t>ᆶ</a:t>
            </a:r>
          </a:p>
          <a:p>
            <a:pPr/>
            <a:r>
              <a:rPr sz="2400" b="1">
                <a:solidFill>
                  <a:srgbClr val="323232"/>
                </a:solidFill>
                <a:latin typeface="微軟正黑體"/>
              </a:rPr>
              <a:t>;</a:t>
            </a:r>
          </a:p>
          <a:p>
            <a:pPr lvl="1"/>
            <a:r>
              <a:rPr sz="1800">
                <a:solidFill>
                  <a:srgbClr val="323232"/>
                </a:solidFill>
                <a:latin typeface="微軟正黑體"/>
              </a:rPr>
              <a:t>• &gt;</a:t>
            </a:r>
          </a:p>
          <a:p>
            <a:pPr/>
            <a:r>
              <a:rPr sz="2400" b="1">
                <a:solidFill>
                  <a:srgbClr val="323232"/>
                </a:solidFill>
                <a:latin typeface="微軟正黑體"/>
              </a:rPr>
              <a:t>ϐ໔࣬ᜢ߯ኧࣁ</a:t>
            </a:r>
          </a:p>
          <a:p>
            <a:pPr/>
            <a:r>
              <a:rPr sz="2400" b="1">
                <a:solidFill>
                  <a:srgbClr val="323232"/>
                </a:solidFill>
                <a:latin typeface="微軟正黑體"/>
              </a:rPr>
              <a:t>?</a:t>
            </a:r>
          </a:p>
          <a:p>
            <a:pPr lvl="1"/>
            <a:r>
              <a:rPr sz="1800">
                <a:solidFill>
                  <a:srgbClr val="323232"/>
                </a:solidFill>
                <a:latin typeface="微軟正黑體"/>
              </a:rPr>
              <a:t>• /,&gt;</a:t>
            </a:r>
          </a:p>
          <a:p>
            <a:pPr/>
            <a:r>
              <a:rPr sz="2400" b="1">
                <a:solidFill>
                  <a:srgbClr val="323232"/>
                </a:solidFill>
                <a:latin typeface="微軟正黑體"/>
              </a:rPr>
              <a:t>ǶԵໆኳࠠᙁϯаϷ</a:t>
            </a:r>
          </a:p>
          <a:p>
            <a:pPr/>
            <a:r>
              <a:rPr sz="2400" b="1">
                <a:solidFill>
                  <a:srgbClr val="323232"/>
                </a:solidFill>
                <a:latin typeface="微軟正黑體"/>
              </a:rPr>
              <a:t>time-</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LMM ኳࠠ຾Չճ౗ኳᔕ</a:t>
            </a:r>
          </a:p>
        </p:txBody>
      </p:sp>
      <p:sp>
        <p:nvSpPr>
          <p:cNvPr id="5" name="TextBox 4"/>
          <p:cNvSpPr txBox="1"/>
          <p:nvPr/>
        </p:nvSpPr>
        <p:spPr>
          <a:xfrm>
            <a:off x="360000" y="1008000"/>
            <a:ext cx="11473200" cy="5670000"/>
          </a:xfrm>
          <a:prstGeom prst="rect">
            <a:avLst/>
          </a:prstGeom>
          <a:noFill/>
        </p:spPr>
        <p:txBody>
          <a:bodyPr wrap="square">
            <a:spAutoFit/>
          </a:bodyPr>
          <a:lstStyle/>
          <a:p>
            <a:pPr lvl="1"/>
            <a:r>
              <a:rPr sz="1800">
                <a:solidFill>
                  <a:srgbClr val="323232"/>
                </a:solidFill>
                <a:latin typeface="微軟正黑體"/>
              </a:rPr>
              <a:t>• ˰怆⡆✳⎗⍾㴰⇑䌯Ṍ㎃㈨埻㔯ẞ˱</a:t>
            </a:r>
          </a:p>
          <a:p>
            <a:pPr lvl="1"/>
            <a:r>
              <a:rPr sz="1800">
                <a:solidFill>
                  <a:srgbClr val="323232"/>
                </a:solidFill>
                <a:latin typeface="微軟正黑體"/>
              </a:rPr>
              <a:t>• ⃫⭴嫱⇠⁝⇠悐</a:t>
            </a:r>
          </a:p>
          <a:p>
            <a:pPr lvl="1"/>
            <a:r>
              <a:rPr sz="1800">
                <a:solidFill>
                  <a:srgbClr val="323232"/>
                </a:solidFill>
                <a:latin typeface="微軟正黑體"/>
              </a:rPr>
              <a:t>• ġ ġ ġ ġ ġ ġ ġ ġ ġ ġ ġ ġ ġ ġ ġ ġ ġ ġ ġ ġ ġ ġ ġ ġ</a:t>
            </a:r>
          </a:p>
          <a:p>
            <a:pPr lvl="1"/>
            <a:r>
              <a:rPr sz="1800">
                <a:solidFill>
                  <a:srgbClr val="323232"/>
                </a:solidFill>
                <a:latin typeface="微軟正黑體"/>
              </a:rPr>
              <a:t>• 6</a:t>
            </a:r>
          </a:p>
          <a:p>
            <a:pPr/>
            <a:r>
              <a:rPr sz="2400" b="1">
                <a:solidFill>
                  <a:srgbClr val="323232"/>
                </a:solidFill>
                <a:latin typeface="微軟正黑體"/>
              </a:rPr>
              <a:t>homogeneity</a:t>
            </a:r>
          </a:p>
          <a:p>
            <a:pPr/>
            <a:r>
              <a:rPr sz="2400" b="1">
                <a:solidFill>
                  <a:srgbClr val="323232"/>
                </a:solidFill>
                <a:latin typeface="微軟正黑體"/>
              </a:rPr>
              <a:t>ǴӧԜᙁϯբ</a:t>
            </a:r>
          </a:p>
          <a:p>
            <a:pPr/>
            <a:r>
              <a:rPr sz="2400" b="1">
                <a:solidFill>
                  <a:srgbClr val="323232"/>
                </a:solidFill>
                <a:latin typeface="微軟正黑體"/>
              </a:rPr>
              <a:t>Ǵ٠ӕਔஒ</a:t>
            </a:r>
          </a:p>
          <a:p>
            <a:pPr/>
            <a:r>
              <a:rPr sz="2400" b="1">
                <a:solidFill>
                  <a:srgbClr val="323232"/>
                </a:solidFill>
                <a:latin typeface="微軟正黑體"/>
              </a:rPr>
              <a:t>L</a:t>
            </a:r>
          </a:p>
          <a:p>
            <a:pPr lvl="1"/>
            <a:r>
              <a:rPr sz="1800">
                <a:solidFill>
                  <a:srgbClr val="323232"/>
                </a:solidFill>
                <a:latin typeface="微軟正黑體"/>
              </a:rPr>
              <a:t>• !</a:t>
            </a:r>
          </a:p>
          <a:p>
            <a:pPr/>
            <a:r>
              <a:rPr sz="2400" b="1">
                <a:solidFill>
                  <a:srgbClr val="323232"/>
                </a:solidFill>
                <a:latin typeface="微軟正黑體"/>
              </a:rPr>
              <a:t>(") + #</a:t>
            </a:r>
          </a:p>
          <a:p>
            <a:pPr/>
            <a:r>
              <a:rPr sz="2400" b="1">
                <a:solidFill>
                  <a:srgbClr val="323232"/>
                </a:solidFill>
                <a:latin typeface="微軟正黑體"/>
              </a:rPr>
              <a:t>ᙁϯࣁ</a:t>
            </a:r>
          </a:p>
          <a:p>
            <a:pPr/>
            <a:r>
              <a:rPr sz="2400" b="1">
                <a:solidFill>
                  <a:srgbClr val="323232"/>
                </a:solidFill>
                <a:latin typeface="微軟正黑體"/>
              </a:rPr>
              <a:t>$</a:t>
            </a:r>
          </a:p>
          <a:p>
            <a:pPr/>
            <a:r>
              <a:rPr sz="2400" b="1">
                <a:solidFill>
                  <a:srgbClr val="323232"/>
                </a:solidFill>
                <a:latin typeface="微軟正黑體"/>
              </a:rPr>
              <a:t>%</a:t>
            </a:r>
          </a:p>
          <a:p>
            <a:pPr lvl="1"/>
            <a:r>
              <a:rPr sz="1800">
                <a:solidFill>
                  <a:srgbClr val="323232"/>
                </a:solidFill>
                <a:latin typeface="微軟正黑體"/>
              </a:rPr>
              <a:t>• &amp;</a:t>
            </a:r>
          </a:p>
          <a:p>
            <a:pPr/>
            <a:r>
              <a:rPr sz="2400" b="1">
                <a:solidFill>
                  <a:srgbClr val="323232"/>
                </a:solidFill>
                <a:latin typeface="微軟正黑體"/>
              </a:rPr>
              <a:t>(")</a:t>
            </a:r>
          </a:p>
          <a:p>
            <a:pPr/>
            <a:r>
              <a:rPr sz="2400" b="1">
                <a:solidFill>
                  <a:srgbClr val="323232"/>
                </a:solidFill>
                <a:latin typeface="微軟正黑體"/>
              </a:rPr>
              <a:t>Ƕҗܭש౜Ӣηܭ၀॥ᓀ</a:t>
            </a:r>
          </a:p>
          <a:p>
            <a:pPr/>
            <a:r>
              <a:rPr sz="2400" b="1">
                <a:solidFill>
                  <a:srgbClr val="323232"/>
                </a:solidFill>
                <a:latin typeface="微軟正黑體"/>
              </a:rPr>
              <a:t>ෳࡋΠܺவ</a:t>
            </a:r>
          </a:p>
          <a:p>
            <a:pPr/>
            <a:r>
              <a:rPr sz="2400" b="1">
                <a:solidFill>
                  <a:srgbClr val="323232"/>
                </a:solidFill>
                <a:latin typeface="微軟正黑體"/>
              </a:rPr>
              <a:t>martingale</a:t>
            </a:r>
          </a:p>
          <a:p>
            <a:pPr/>
            <a:r>
              <a:rPr sz="2400" b="1">
                <a:solidFill>
                  <a:srgbClr val="323232"/>
                </a:solidFill>
                <a:latin typeface="微軟正黑體"/>
              </a:rPr>
              <a:t>܄፦Ǵଷ೛а</a:t>
            </a:r>
          </a:p>
          <a:p>
            <a:pPr/>
            <a:r>
              <a:rPr sz="2400" b="1">
                <a:solidFill>
                  <a:srgbClr val="323232"/>
                </a:solidFill>
                <a:latin typeface="微軟正黑體"/>
              </a:rPr>
              <a:t>'(")</a:t>
            </a:r>
          </a:p>
          <a:p>
            <a:pPr/>
            <a:r>
              <a:rPr sz="2400" b="1">
                <a:solidFill>
                  <a:srgbClr val="323232"/>
                </a:solidFill>
                <a:latin typeface="微軟正黑體"/>
              </a:rPr>
              <a:t>բࣁीሽൂՏǴӧځ฻ሽෳࡋΠё௢Ꮴត౽</a:t>
            </a:r>
          </a:p>
          <a:p>
            <a:pPr/>
            <a:r>
              <a:rPr sz="2400" b="1">
                <a:solidFill>
                  <a:srgbClr val="323232"/>
                </a:solidFill>
                <a:latin typeface="微軟正黑體"/>
              </a:rPr>
              <a:t>໨</a:t>
            </a:r>
          </a:p>
          <a:p>
            <a:pPr/>
            <a:r>
              <a:rPr sz="2400" b="1">
                <a:solidFill>
                  <a:srgbClr val="323232"/>
                </a:solidFill>
                <a:latin typeface="微軟正黑體"/>
              </a:rPr>
              <a:t>*</a:t>
            </a:r>
          </a:p>
          <a:p>
            <a:pPr lvl="1"/>
            <a:r>
              <a:rPr sz="1800">
                <a:solidFill>
                  <a:srgbClr val="323232"/>
                </a:solidFill>
                <a:latin typeface="微軟正黑體"/>
              </a:rPr>
              <a:t>• ,</a:t>
            </a:r>
          </a:p>
          <a:p>
            <a:pPr/>
            <a:r>
              <a:rPr sz="2400" b="1">
                <a:solidFill>
                  <a:srgbClr val="323232"/>
                </a:solidFill>
                <a:latin typeface="微軟正黑體"/>
              </a:rPr>
              <a:t>($(")- ") =</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lvl="1"/>
            <a:r>
              <a:rPr sz="1800">
                <a:solidFill>
                  <a:srgbClr val="323232"/>
                </a:solidFill>
                <a:latin typeface="微軟正黑體"/>
              </a:rPr>
              <a:t>• &amp;</a:t>
            </a:r>
          </a:p>
          <a:p>
            <a:pPr/>
            <a:r>
              <a:rPr sz="2400" b="1">
                <a:solidFill>
                  <a:srgbClr val="323232"/>
                </a:solidFill>
                <a:latin typeface="微軟正黑體"/>
              </a:rPr>
              <a:t>(")/</a:t>
            </a:r>
          </a:p>
          <a:p>
            <a:pPr/>
            <a:r>
              <a:rPr sz="2400" b="1">
                <a:solidFill>
                  <a:srgbClr val="323232"/>
                </a:solidFill>
                <a:latin typeface="微軟正黑體"/>
              </a:rPr>
              <a:t>1 + $</a:t>
            </a:r>
          </a:p>
          <a:p>
            <a:pPr lvl="1"/>
            <a:r>
              <a:rPr sz="1800">
                <a:solidFill>
                  <a:srgbClr val="323232"/>
                </a:solidFill>
                <a:latin typeface="微軟正黑體"/>
              </a:rPr>
              <a:t>• &amp;</a:t>
            </a:r>
          </a:p>
          <a:p>
            <a:pPr/>
            <a:r>
              <a:rPr sz="2400" b="1">
                <a:solidFill>
                  <a:srgbClr val="323232"/>
                </a:solidFill>
                <a:latin typeface="微軟正黑體"/>
              </a:rPr>
              <a:t>(")/</a:t>
            </a:r>
          </a:p>
          <a:p>
            <a:pPr/>
            <a:r>
              <a:rPr sz="2400" b="1">
                <a:solidFill>
                  <a:srgbClr val="323232"/>
                </a:solidFill>
                <a:latin typeface="微軟正黑體"/>
              </a:rPr>
              <a:t>0</a:t>
            </a:r>
          </a:p>
          <a:p>
            <a:pPr lvl="1"/>
            <a:r>
              <a:rPr sz="1800">
                <a:solidFill>
                  <a:srgbClr val="323232"/>
                </a:solidFill>
                <a:latin typeface="微軟正黑體"/>
              </a:rPr>
              <a:t>• ,-&amp;</a:t>
            </a:r>
          </a:p>
          <a:p>
            <a:pPr/>
            <a:r>
              <a:rPr sz="2400" b="1">
                <a:solidFill>
                  <a:srgbClr val="323232"/>
                </a:solidFill>
                <a:latin typeface="微軟正黑體"/>
              </a:rPr>
              <a:t>(")</a:t>
            </a:r>
          </a:p>
          <a:p>
            <a:pPr lvl="1"/>
            <a:r>
              <a:rPr sz="1800">
                <a:solidFill>
                  <a:srgbClr val="323232"/>
                </a:solidFill>
                <a:latin typeface="微軟正黑體"/>
              </a:rPr>
              <a:t>• ,</a:t>
            </a:r>
          </a:p>
          <a:p>
            <a:pPr lvl="1"/>
            <a:r>
              <a:rPr sz="1800">
                <a:solidFill>
                  <a:srgbClr val="323232"/>
                </a:solidFill>
                <a:latin typeface="微軟正黑體"/>
              </a:rPr>
              <a:t>• &amp;23(4)</a:t>
            </a:r>
          </a:p>
          <a:p>
            <a:pPr/>
            <a:r>
              <a:rPr sz="2400" b="1">
                <a:solidFill>
                  <a:srgbClr val="323232"/>
                </a:solidFill>
                <a:latin typeface="微軟正黑體"/>
              </a:rPr>
              <a:t>ځύ</a:t>
            </a:r>
          </a:p>
          <a:p>
            <a:pPr/>
            <a:r>
              <a:rPr sz="2400" b="1">
                <a:solidFill>
                  <a:srgbClr val="323232"/>
                </a:solidFill>
                <a:latin typeface="微軟正黑體"/>
              </a:rPr>
              <a:t>0</a:t>
            </a:r>
          </a:p>
          <a:p>
            <a:pPr lvl="1"/>
            <a:r>
              <a:rPr sz="1800">
                <a:solidFill>
                  <a:srgbClr val="323232"/>
                </a:solidFill>
                <a:latin typeface="微軟正黑體"/>
              </a:rPr>
              <a:t>• ,-&amp;</a:t>
            </a:r>
          </a:p>
          <a:p>
            <a:pPr/>
            <a:r>
              <a:rPr sz="2400" b="1">
                <a:solidFill>
                  <a:srgbClr val="323232"/>
                </a:solidFill>
                <a:latin typeface="微軟正黑體"/>
              </a:rPr>
              <a:t>(") = 0</a:t>
            </a:r>
          </a:p>
          <a:p>
            <a:pPr lvl="1"/>
            <a:r>
              <a:rPr sz="1800">
                <a:solidFill>
                  <a:srgbClr val="323232"/>
                </a:solidFill>
                <a:latin typeface="微軟正黑體"/>
              </a:rPr>
              <a:t>• ,</a:t>
            </a:r>
          </a:p>
          <a:p>
            <a:pPr/>
            <a:r>
              <a:rPr sz="2400" b="1">
                <a:solidFill>
                  <a:srgbClr val="323232"/>
                </a:solidFill>
                <a:latin typeface="微軟正黑體"/>
              </a:rPr>
              <a:t>(")0</a:t>
            </a:r>
          </a:p>
          <a:p>
            <a:pPr lvl="1"/>
            <a:r>
              <a:rPr sz="1800">
                <a:solidFill>
                  <a:srgbClr val="323232"/>
                </a:solidFill>
                <a:latin typeface="微軟正黑體"/>
              </a:rPr>
              <a:t>• &amp;</a:t>
            </a:r>
          </a:p>
          <a:p>
            <a:pPr/>
            <a:r>
              <a:rPr sz="2400" b="1">
                <a:solidFill>
                  <a:srgbClr val="323232"/>
                </a:solidFill>
                <a:latin typeface="微軟正黑體"/>
              </a:rPr>
              <a:t>(")5</a:t>
            </a:r>
          </a:p>
          <a:p>
            <a:pPr lvl="1"/>
            <a:r>
              <a:rPr sz="1800">
                <a:solidFill>
                  <a:srgbClr val="323232"/>
                </a:solidFill>
                <a:latin typeface="微軟正黑體"/>
              </a:rPr>
              <a:t>• ,-&amp;</a:t>
            </a:r>
          </a:p>
          <a:p>
            <a:pPr/>
            <a:r>
              <a:rPr sz="2400" b="1">
                <a:solidFill>
                  <a:srgbClr val="323232"/>
                </a:solidFill>
                <a:latin typeface="微軟正黑體"/>
              </a:rPr>
              <a:t>Ǵ</a:t>
            </a:r>
          </a:p>
          <a:p>
            <a:pPr/>
            <a:r>
              <a:rPr sz="2400" b="1">
                <a:solidFill>
                  <a:srgbClr val="323232"/>
                </a:solidFill>
                <a:latin typeface="微軟正黑體"/>
              </a:rPr>
              <a:t>0</a:t>
            </a:r>
          </a:p>
          <a:p>
            <a:pPr lvl="1"/>
            <a:r>
              <a:rPr sz="1800">
                <a:solidFill>
                  <a:srgbClr val="323232"/>
                </a:solidFill>
                <a:latin typeface="微軟正黑體"/>
              </a:rPr>
              <a:t>• ,</a:t>
            </a:r>
          </a:p>
          <a:p>
            <a:pPr/>
            <a:r>
              <a:rPr sz="2400" b="1">
                <a:solidFill>
                  <a:srgbClr val="323232"/>
                </a:solidFill>
                <a:latin typeface="微軟正黑體"/>
              </a:rPr>
              <a:t>(")</a:t>
            </a:r>
          </a:p>
          <a:p>
            <a:pPr/>
            <a:r>
              <a:rPr sz="2400" b="1">
                <a:solidFill>
                  <a:srgbClr val="323232"/>
                </a:solidFill>
                <a:latin typeface="微軟正黑體"/>
              </a:rPr>
              <a:t>ࣁ</a:t>
            </a:r>
          </a:p>
          <a:p>
            <a:pPr/>
            <a:r>
              <a:rPr sz="2400" b="1">
                <a:solidFill>
                  <a:srgbClr val="323232"/>
                </a:solidFill>
                <a:latin typeface="微軟正黑體"/>
              </a:rPr>
              <a:t>$</a:t>
            </a:r>
          </a:p>
          <a:p>
            <a:pPr/>
            <a:r>
              <a:rPr sz="2400" b="1">
                <a:solidFill>
                  <a:srgbClr val="323232"/>
                </a:solidFill>
                <a:latin typeface="微軟正黑體"/>
              </a:rPr>
              <a:t>%</a:t>
            </a:r>
          </a:p>
          <a:p>
            <a:pPr lvl="1"/>
            <a:r>
              <a:rPr sz="1800">
                <a:solidFill>
                  <a:srgbClr val="323232"/>
                </a:solidFill>
                <a:latin typeface="微軟正黑體"/>
              </a:rPr>
              <a:t>• ,</a:t>
            </a:r>
          </a:p>
          <a:p>
            <a:pPr/>
            <a:r>
              <a:rPr sz="2400" b="1">
                <a:solidFill>
                  <a:srgbClr val="323232"/>
                </a:solidFill>
                <a:latin typeface="微軟正黑體"/>
              </a:rPr>
              <a:t>(")</a:t>
            </a:r>
          </a:p>
          <a:p>
            <a:pPr/>
            <a:r>
              <a:rPr sz="2400" b="1">
                <a:solidFill>
                  <a:srgbClr val="323232"/>
                </a:solidFill>
                <a:latin typeface="微軟正黑體"/>
              </a:rPr>
              <a:t>ϐݢ୏ࡋǶ</a:t>
            </a:r>
          </a:p>
          <a:p>
            <a:pPr/>
            <a:r>
              <a:rPr sz="2400" b="1">
                <a:solidFill>
                  <a:srgbClr val="323232"/>
                </a:solidFill>
                <a:latin typeface="微軟正黑體"/>
              </a:rPr>
              <a:t>Եቾ୔໔</a:t>
            </a:r>
          </a:p>
          <a:p>
            <a:pPr/>
            <a:r>
              <a:rPr sz="2400" b="1">
                <a:solidFill>
                  <a:srgbClr val="323232"/>
                </a:solidFill>
                <a:latin typeface="微軟正黑體"/>
              </a:rPr>
              <a:t>(6- ")</a:t>
            </a:r>
          </a:p>
          <a:p>
            <a:pPr/>
            <a:r>
              <a:rPr sz="2400" b="1">
                <a:solidFill>
                  <a:srgbClr val="323232"/>
                </a:solidFill>
                <a:latin typeface="微軟正黑體"/>
              </a:rPr>
              <a:t>ᇻයճ౗ኳᔕǴךॺीᆉ୔໔ϣᇻයճ౗ჹኧϐӅᡂ౦ኧંତǴ</a:t>
            </a:r>
          </a:p>
          <a:p>
            <a:pPr/>
            <a:r>
              <a:rPr sz="2400" b="1">
                <a:solidFill>
                  <a:srgbClr val="323232"/>
                </a:solidFill>
                <a:latin typeface="微軟正黑體"/>
              </a:rPr>
              <a:t>0</a:t>
            </a:r>
          </a:p>
          <a:p>
            <a:pPr lvl="1"/>
            <a:r>
              <a:rPr sz="1800">
                <a:solidFill>
                  <a:srgbClr val="323232"/>
                </a:solidFill>
                <a:latin typeface="微軟正黑體"/>
              </a:rPr>
              <a:t>• ,-&amp;</a:t>
            </a:r>
          </a:p>
          <a:p>
            <a:pPr/>
            <a:r>
              <a:rPr sz="2400" b="1">
                <a:solidFill>
                  <a:srgbClr val="323232"/>
                </a:solidFill>
                <a:latin typeface="微軟正黑體"/>
              </a:rPr>
              <a:t>(6- ") = 7</a:t>
            </a:r>
          </a:p>
          <a:p>
            <a:pPr/>
            <a:r>
              <a:rPr sz="2400" b="1">
                <a:solidFill>
                  <a:srgbClr val="323232"/>
                </a:solidFill>
                <a:latin typeface="微軟正黑體"/>
              </a:rPr>
              <a:t>5</a:t>
            </a:r>
          </a:p>
          <a:p>
            <a:pPr lvl="1"/>
            <a:r>
              <a:rPr sz="1800">
                <a:solidFill>
                  <a:srgbClr val="323232"/>
                </a:solidFill>
                <a:latin typeface="微軟正黑體"/>
              </a:rPr>
              <a:t>• ,-&amp;</a:t>
            </a:r>
          </a:p>
          <a:p>
            <a:pPr/>
            <a:r>
              <a:rPr sz="2400" b="1">
                <a:solidFill>
                  <a:srgbClr val="323232"/>
                </a:solidFill>
                <a:latin typeface="微軟正黑體"/>
              </a:rPr>
              <a:t>0</a:t>
            </a:r>
          </a:p>
          <a:p>
            <a:pPr lvl="1"/>
            <a:r>
              <a:rPr sz="1800">
                <a:solidFill>
                  <a:srgbClr val="323232"/>
                </a:solidFill>
                <a:latin typeface="微軟正黑體"/>
              </a:rPr>
              <a:t>• ,</a:t>
            </a:r>
          </a:p>
          <a:p>
            <a:pPr/>
            <a:r>
              <a:rPr sz="2400" b="1">
                <a:solidFill>
                  <a:srgbClr val="323232"/>
                </a:solidFill>
                <a:latin typeface="微軟正黑體"/>
              </a:rPr>
              <a:t>(8)0</a:t>
            </a:r>
          </a:p>
          <a:p>
            <a:pPr lvl="1"/>
            <a:r>
              <a:rPr sz="1800">
                <a:solidFill>
                  <a:srgbClr val="323232"/>
                </a:solidFill>
                <a:latin typeface="微軟正黑體"/>
              </a:rPr>
              <a:t>• 9</a:t>
            </a:r>
          </a:p>
          <a:p>
            <a:pPr/>
            <a:r>
              <a:rPr sz="2400" b="1">
                <a:solidFill>
                  <a:srgbClr val="323232"/>
                </a:solidFill>
                <a:latin typeface="微軟正黑體"/>
              </a:rPr>
              <a:t>(8):8</a:t>
            </a:r>
          </a:p>
          <a:p>
            <a:pPr lvl="1"/>
            <a:r>
              <a:rPr sz="1800">
                <a:solidFill>
                  <a:srgbClr val="323232"/>
                </a:solidFill>
                <a:latin typeface="微軟正黑體"/>
              </a:rPr>
              <a:t>• 4</a:t>
            </a:r>
          </a:p>
          <a:p>
            <a:pPr lvl="1"/>
            <a:r>
              <a:rPr sz="1800">
                <a:solidFill>
                  <a:srgbClr val="323232"/>
                </a:solidFill>
                <a:latin typeface="微軟正黑體"/>
              </a:rPr>
              <a:t>• ;</a:t>
            </a:r>
          </a:p>
          <a:p>
            <a:pPr/>
            <a:r>
              <a:rPr sz="2400" b="1">
                <a:solidFill>
                  <a:srgbClr val="323232"/>
                </a:solidFill>
                <a:latin typeface="微軟正黑體"/>
              </a:rPr>
              <a:t>Ǵ</a:t>
            </a:r>
          </a:p>
          <a:p>
            <a:pPr/>
            <a:r>
              <a:rPr sz="2400" b="1">
                <a:solidFill>
                  <a:srgbClr val="323232"/>
                </a:solidFill>
                <a:latin typeface="微軟正黑體"/>
              </a:rPr>
              <a:t>ჹܭӅᡂ౦ኧંତךॺёаஒځբંତ໒Бਥೀ౛Ǵջפډંତ</a:t>
            </a:r>
          </a:p>
          <a:p>
            <a:pPr/>
            <a:r>
              <a:rPr sz="2400" b="1">
                <a:solidFill>
                  <a:srgbClr val="323232"/>
                </a:solidFill>
                <a:latin typeface="微軟正黑體"/>
              </a:rPr>
              <a:t>&lt;</a:t>
            </a:r>
          </a:p>
          <a:p>
            <a:pPr/>
            <a:r>
              <a:rPr sz="2400" b="1">
                <a:solidFill>
                  <a:srgbClr val="323232"/>
                </a:solidFill>
                <a:latin typeface="微軟正黑體"/>
              </a:rPr>
              <a:t>ᅈى</a:t>
            </a:r>
          </a:p>
          <a:p>
            <a:pPr/>
            <a:r>
              <a:rPr sz="2400" b="1">
                <a:solidFill>
                  <a:srgbClr val="323232"/>
                </a:solidFill>
                <a:latin typeface="微軟正黑體"/>
              </a:rPr>
              <a:t>0</a:t>
            </a:r>
          </a:p>
          <a:p>
            <a:pPr lvl="1"/>
            <a:r>
              <a:rPr sz="1800">
                <a:solidFill>
                  <a:srgbClr val="323232"/>
                </a:solidFill>
                <a:latin typeface="微軟正黑體"/>
              </a:rPr>
              <a:t>• ,-&amp;</a:t>
            </a:r>
          </a:p>
          <a:p>
            <a:pPr/>
            <a:r>
              <a:rPr sz="2400" b="1">
                <a:solidFill>
                  <a:srgbClr val="323232"/>
                </a:solidFill>
                <a:latin typeface="微軟正黑體"/>
              </a:rPr>
              <a:t>= . &lt;</a:t>
            </a:r>
          </a:p>
          <a:p>
            <a:pPr lvl="1"/>
            <a:r>
              <a:rPr sz="1800">
                <a:solidFill>
                  <a:srgbClr val="323232"/>
                </a:solidFill>
                <a:latin typeface="微軟正黑體"/>
              </a:rPr>
              <a:t>• ,-&gt;</a:t>
            </a:r>
          </a:p>
          <a:p>
            <a:pPr/>
            <a:r>
              <a:rPr sz="2400" b="1">
                <a:solidFill>
                  <a:srgbClr val="323232"/>
                </a:solidFill>
                <a:latin typeface="微軟正黑體"/>
              </a:rPr>
              <a:t>&lt;</a:t>
            </a:r>
          </a:p>
          <a:p>
            <a:pPr lvl="1"/>
            <a:r>
              <a:rPr sz="1800">
                <a:solidFill>
                  <a:srgbClr val="323232"/>
                </a:solidFill>
                <a:latin typeface="微軟正黑體"/>
              </a:rPr>
              <a:t>• &gt;-&amp;</a:t>
            </a:r>
          </a:p>
          <a:p>
            <a:pPr lvl="1"/>
            <a:r>
              <a:rPr sz="1800">
                <a:solidFill>
                  <a:srgbClr val="323232"/>
                </a:solidFill>
                <a:latin typeface="微軟正黑體"/>
              </a:rPr>
              <a:t>• 4</a:t>
            </a:r>
          </a:p>
          <a:p>
            <a:pPr lvl="1"/>
            <a:r>
              <a:rPr sz="1800">
                <a:solidFill>
                  <a:srgbClr val="323232"/>
                </a:solidFill>
                <a:latin typeface="微軟正黑體"/>
              </a:rPr>
              <a:t>• ?</a:t>
            </a:r>
          </a:p>
          <a:p>
            <a:pPr lvl="1"/>
            <a:r>
              <a:rPr sz="1800">
                <a:solidFill>
                  <a:srgbClr val="323232"/>
                </a:solidFill>
                <a:latin typeface="微軟正黑體"/>
              </a:rPr>
              <a:t>• &gt;2@</a:t>
            </a:r>
          </a:p>
          <a:p>
            <a:pPr/>
            <a:r>
              <a:rPr sz="2400" b="1">
                <a:solidFill>
                  <a:srgbClr val="323232"/>
                </a:solidFill>
                <a:latin typeface="微軟正黑體"/>
              </a:rPr>
              <a:t>നࡕךॺё೸ၸа΢ត౽໨௢Ꮴрᇻයճ౗ᘉණڄኧǴ</a:t>
            </a:r>
          </a:p>
          <a:p>
            <a:pPr/>
            <a:r>
              <a:rPr sz="2400" b="1">
                <a:solidFill>
                  <a:srgbClr val="323232"/>
                </a:solidFill>
                <a:latin typeface="微軟正黑體"/>
              </a:rPr>
              <a:t>logA$</a:t>
            </a:r>
          </a:p>
          <a:p>
            <a:pPr lvl="1"/>
            <a:r>
              <a:rPr sz="1800">
                <a:solidFill>
                  <a:srgbClr val="323232"/>
                </a:solidFill>
                <a:latin typeface="微軟正黑體"/>
              </a:rPr>
              <a:t>• ,</a:t>
            </a:r>
          </a:p>
          <a:p>
            <a:pPr/>
            <a:r>
              <a:rPr sz="2400" b="1">
                <a:solidFill>
                  <a:srgbClr val="323232"/>
                </a:solidFill>
                <a:latin typeface="微軟正黑體"/>
              </a:rPr>
              <a:t>(")B = logA$</a:t>
            </a:r>
          </a:p>
          <a:p>
            <a:pPr lvl="1"/>
            <a:r>
              <a:rPr sz="1800">
                <a:solidFill>
                  <a:srgbClr val="323232"/>
                </a:solidFill>
                <a:latin typeface="微軟正黑體"/>
              </a:rPr>
              <a:t>• ,</a:t>
            </a:r>
          </a:p>
          <a:p>
            <a:pPr/>
            <a:r>
              <a:rPr sz="2400" b="1">
                <a:solidFill>
                  <a:srgbClr val="323232"/>
                </a:solidFill>
                <a:latin typeface="微軟正黑體"/>
              </a:rPr>
              <a:t>(6)B C</a:t>
            </a:r>
          </a:p>
          <a:p>
            <a:pPr/>
            <a:r>
              <a:rPr sz="2400" b="1">
                <a:solidFill>
                  <a:srgbClr val="323232"/>
                </a:solidFill>
                <a:latin typeface="微軟正黑體"/>
              </a:rPr>
              <a:t>1</a:t>
            </a:r>
          </a:p>
          <a:p>
            <a:pPr/>
            <a:r>
              <a:rPr sz="2400" b="1">
                <a:solidFill>
                  <a:srgbClr val="323232"/>
                </a:solidFill>
                <a:latin typeface="微軟正黑體"/>
              </a:rPr>
              <a:t>D</a:t>
            </a:r>
          </a:p>
          <a:p>
            <a:pPr/>
            <a:r>
              <a:rPr sz="2400" b="1">
                <a:solidFill>
                  <a:srgbClr val="323232"/>
                </a:solidFill>
                <a:latin typeface="微軟正黑體"/>
              </a:rPr>
              <a:t>0</a:t>
            </a:r>
          </a:p>
          <a:p>
            <a:pPr lvl="1"/>
            <a:r>
              <a:rPr sz="1800">
                <a:solidFill>
                  <a:srgbClr val="323232"/>
                </a:solidFill>
                <a:latin typeface="微軟正黑體"/>
              </a:rPr>
              <a:t>• ,-,</a:t>
            </a:r>
          </a:p>
          <a:p>
            <a:pPr/>
            <a:r>
              <a:rPr sz="2400" b="1">
                <a:solidFill>
                  <a:srgbClr val="323232"/>
                </a:solidFill>
                <a:latin typeface="微軟正黑體"/>
              </a:rPr>
              <a:t>(6- ") + . &lt;</a:t>
            </a:r>
          </a:p>
          <a:p>
            <a:pPr lvl="1"/>
            <a:r>
              <a:rPr sz="1800">
                <a:solidFill>
                  <a:srgbClr val="323232"/>
                </a:solidFill>
                <a:latin typeface="微軟正黑體"/>
              </a:rPr>
              <a:t>• ,-&gt;</a:t>
            </a:r>
          </a:p>
          <a:p>
            <a:pPr/>
            <a:r>
              <a:rPr sz="2400" b="1">
                <a:solidFill>
                  <a:srgbClr val="323232"/>
                </a:solidFill>
                <a:latin typeface="微軟正黑體"/>
              </a:rPr>
              <a:t>(E</a:t>
            </a:r>
          </a:p>
          <a:p>
            <a:pPr lvl="1"/>
            <a:r>
              <a:rPr sz="1800">
                <a:solidFill>
                  <a:srgbClr val="323232"/>
                </a:solidFill>
                <a:latin typeface="微軟正黑體"/>
              </a:rPr>
              <a:t>• &gt;-,</a:t>
            </a:r>
          </a:p>
          <a:p>
            <a:pPr/>
            <a:r>
              <a:rPr sz="2400" b="1">
                <a:solidFill>
                  <a:srgbClr val="323232"/>
                </a:solidFill>
                <a:latin typeface="微軟正黑體"/>
              </a:rPr>
              <a:t>+ F</a:t>
            </a:r>
          </a:p>
          <a:p>
            <a:pPr lvl="1"/>
            <a:r>
              <a:rPr sz="1800">
                <a:solidFill>
                  <a:srgbClr val="323232"/>
                </a:solidFill>
                <a:latin typeface="微軟正黑體"/>
              </a:rPr>
              <a:t>• &gt;</a:t>
            </a:r>
          </a:p>
          <a:p>
            <a:pPr/>
            <a:r>
              <a:rPr sz="2400" b="1">
                <a:solidFill>
                  <a:srgbClr val="323232"/>
                </a:solidFill>
                <a:latin typeface="微軟正黑體"/>
              </a:rPr>
              <a:t>)</a:t>
            </a:r>
          </a:p>
          <a:p>
            <a:pPr lvl="1"/>
            <a:r>
              <a:rPr sz="1800">
                <a:solidFill>
                  <a:srgbClr val="323232"/>
                </a:solidFill>
                <a:latin typeface="微軟正黑體"/>
              </a:rPr>
              <a:t>• ?</a:t>
            </a:r>
          </a:p>
          <a:p>
            <a:pPr lvl="1"/>
            <a:r>
              <a:rPr sz="1800">
                <a:solidFill>
                  <a:srgbClr val="323232"/>
                </a:solidFill>
                <a:latin typeface="微軟正黑體"/>
              </a:rPr>
              <a:t>• &gt;2@</a:t>
            </a:r>
          </a:p>
          <a:p>
            <a:pPr/>
            <a:r>
              <a:rPr sz="2400" b="1">
                <a:solidFill>
                  <a:srgbClr val="323232"/>
                </a:solidFill>
                <a:latin typeface="微軟正黑體"/>
              </a:rPr>
              <a:t>ᙖҗ΢ॊക࿯௢ᏤǴךॺё೸</a:t>
            </a:r>
          </a:p>
          <a:p>
            <a:pPr/>
            <a:r>
              <a:rPr sz="2400" b="1">
                <a:solidFill>
                  <a:srgbClr val="323232"/>
                </a:solidFill>
                <a:latin typeface="微軟正黑體"/>
              </a:rPr>
              <a:t>LMM</a:t>
            </a:r>
          </a:p>
          <a:p>
            <a:pPr/>
            <a:r>
              <a:rPr sz="2400" b="1">
                <a:solidFill>
                  <a:srgbClr val="323232"/>
                </a:solidFill>
                <a:latin typeface="微軟正黑體"/>
              </a:rPr>
              <a:t>ኳࠠኳᔕ</a:t>
            </a:r>
          </a:p>
          <a:p>
            <a:pPr/>
            <a:r>
              <a:rPr sz="2400" b="1">
                <a:solidFill>
                  <a:srgbClr val="323232"/>
                </a:solidFill>
                <a:latin typeface="微軟正黑體"/>
              </a:rPr>
              <a:t>CMS</a:t>
            </a:r>
          </a:p>
          <a:p>
            <a:pPr/>
            <a:r>
              <a:rPr sz="2400" b="1">
                <a:solidFill>
                  <a:srgbClr val="323232"/>
                </a:solidFill>
                <a:latin typeface="微軟正黑體"/>
              </a:rPr>
              <a:t>ճ౗ᘉණڄኧǴ٠೸ၸᒿᐒ໨ޑ</a:t>
            </a:r>
          </a:p>
          <a:p>
            <a:pPr/>
            <a:r>
              <a:rPr sz="2400" b="1">
                <a:solidFill>
                  <a:srgbClr val="323232"/>
                </a:solidFill>
                <a:latin typeface="微軟正黑體"/>
              </a:rPr>
              <a:t>εໆғԋኳᔕрคኧచ</a:t>
            </a:r>
          </a:p>
          <a:p>
            <a:pPr/>
            <a:r>
              <a:rPr sz="2400" b="1">
                <a:solidFill>
                  <a:srgbClr val="323232"/>
                </a:solidFill>
                <a:latin typeface="微軟正黑體"/>
              </a:rPr>
              <a:t>CMS</a:t>
            </a:r>
          </a:p>
          <a:p>
            <a:pPr/>
            <a:r>
              <a:rPr sz="2400" b="1">
                <a:solidFill>
                  <a:srgbClr val="323232"/>
                </a:solidFill>
                <a:latin typeface="微軟正黑體"/>
              </a:rPr>
              <a:t>ճ౗ၡ৩Ƕҗܭ໸چ᠑ӣ៾ឦܭऍԄᒧ᏷៾ޑ΋ᅿǴӢԜӧ</a:t>
            </a:r>
          </a:p>
          <a:p>
            <a:pPr/>
            <a:r>
              <a:rPr sz="2400" b="1">
                <a:solidFill>
                  <a:srgbClr val="323232"/>
                </a:solidFill>
                <a:latin typeface="微軟正黑體"/>
              </a:rPr>
              <a:t>຾Չճ౗ၡ৩ޑኳᔕ΢คݤ٬Ҕ໺಍ޑᆾӦьᛥኳᔕݤǴڗԶжϐޑࣁനλѳБᆾӦьᛥ</a:t>
            </a:r>
          </a:p>
          <a:p>
            <a:pPr/>
            <a:r>
              <a:rPr sz="2400" b="1">
                <a:solidFill>
                  <a:srgbClr val="323232"/>
                </a:solidFill>
                <a:latin typeface="微軟正黑體"/>
              </a:rPr>
              <a:t>ݤ</a:t>
            </a:r>
          </a:p>
          <a:p>
            <a:pPr/>
            <a:r>
              <a:rPr sz="2400" b="1">
                <a:solidFill>
                  <a:srgbClr val="323232"/>
                </a:solidFill>
                <a:latin typeface="微軟正黑體"/>
              </a:rPr>
              <a:t>LSMC</a:t>
            </a:r>
          </a:p>
          <a:p>
            <a:pPr/>
            <a:r>
              <a:rPr sz="2400" b="1">
                <a:solidFill>
                  <a:srgbClr val="323232"/>
                </a:solidFill>
                <a:latin typeface="微軟正黑體"/>
              </a:rPr>
              <a:t>Ƕځύ</a:t>
            </a:r>
          </a:p>
          <a:p>
            <a:pPr/>
            <a:r>
              <a:rPr sz="2400" b="1">
                <a:solidFill>
                  <a:srgbClr val="323232"/>
                </a:solidFill>
                <a:latin typeface="微軟正黑體"/>
              </a:rPr>
              <a:t>LSMC</a:t>
            </a:r>
          </a:p>
          <a:p>
            <a:pPr/>
            <a:r>
              <a:rPr sz="2400" b="1">
                <a:solidFill>
                  <a:srgbClr val="323232"/>
                </a:solidFill>
                <a:latin typeface="微軟正黑體"/>
              </a:rPr>
              <a:t>ϐ౛ፕܭԜسӈ஑ਢಃ΋໨ౢࠔמೌЎҹς၁ॊϐǴࡺӧԜמೌ</a:t>
            </a:r>
          </a:p>
          <a:p>
            <a:pPr/>
            <a:r>
              <a:rPr sz="2400" b="1">
                <a:solidFill>
                  <a:srgbClr val="323232"/>
                </a:solidFill>
                <a:latin typeface="微軟正黑體"/>
              </a:rPr>
              <a:t>Ўҹ໻ଞჹ</a:t>
            </a:r>
          </a:p>
          <a:p>
            <a:pPr/>
            <a:r>
              <a:rPr sz="2400" b="1">
                <a:solidFill>
                  <a:srgbClr val="323232"/>
                </a:solidFill>
                <a:latin typeface="微軟正黑體"/>
              </a:rPr>
              <a:t>LMM</a:t>
            </a:r>
          </a:p>
          <a:p>
            <a:pPr/>
            <a:r>
              <a:rPr sz="2400" b="1">
                <a:solidFill>
                  <a:srgbClr val="323232"/>
                </a:solidFill>
                <a:latin typeface="微軟正黑體"/>
              </a:rPr>
              <a:t>ኳࠠΠӧ</a:t>
            </a:r>
          </a:p>
          <a:p>
            <a:pPr/>
            <a:r>
              <a:rPr sz="2400" b="1">
                <a:solidFill>
                  <a:srgbClr val="323232"/>
                </a:solidFill>
                <a:latin typeface="微軟正黑體"/>
              </a:rPr>
              <a:t>CCDRA</a:t>
            </a:r>
          </a:p>
          <a:p>
            <a:pPr/>
            <a:r>
              <a:rPr sz="2400" b="1">
                <a:solidFill>
                  <a:srgbClr val="323232"/>
                </a:solidFill>
                <a:latin typeface="微軟正黑體"/>
              </a:rPr>
              <a:t>ౢࠔϐჴբ௃׎଺ᇥܴǶ</a:t>
            </a:r>
          </a:p>
          <a:p>
            <a:pPr/>
            <a:r>
              <a:rPr sz="2400" b="1">
                <a:solidFill>
                  <a:srgbClr val="323232"/>
                </a:solidFill>
                <a:latin typeface="微軟正黑體"/>
              </a:rPr>
              <a:t>1</a:t>
            </a:r>
          </a:p>
          <a:p>
            <a:pPr/>
            <a:r>
              <a:rPr sz="2400" b="1">
                <a:solidFill>
                  <a:srgbClr val="323232"/>
                </a:solidFill>
                <a:latin typeface="微軟正黑體"/>
              </a:rPr>
              <a:t>ǵ</a:t>
            </a:r>
          </a:p>
          <a:p>
            <a:pPr/>
            <a:r>
              <a:rPr sz="2400" b="1">
                <a:solidFill>
                  <a:srgbClr val="323232"/>
                </a:solidFill>
                <a:latin typeface="微軟正黑體"/>
              </a:rPr>
              <a:t>CCDRA</a:t>
            </a:r>
          </a:p>
          <a:p>
            <a:pPr/>
            <a:r>
              <a:rPr sz="2400" b="1">
                <a:solidFill>
                  <a:srgbClr val="323232"/>
                </a:solidFill>
                <a:latin typeface="微軟正黑體"/>
              </a:rPr>
              <a:t>ౢࠔଷ೛</a:t>
            </a:r>
          </a:p>
          <a:p>
            <a:pPr/>
            <a:r>
              <a:rPr sz="2400" b="1">
                <a:solidFill>
                  <a:srgbClr val="323232"/>
                </a:solidFill>
                <a:latin typeface="微軟正黑體"/>
              </a:rPr>
              <a:t>ჴ୍΢ӧ຾ՉߏϺයޑճ౗ኳᔕԵؼਏ౗܄฻ӢનǴ೯த཮٬ҔӚᅿ߈՟Бݤа</a:t>
            </a:r>
          </a:p>
          <a:p>
            <a:pPr/>
            <a:r>
              <a:rPr sz="2400" b="1">
                <a:solidFill>
                  <a:srgbClr val="323232"/>
                </a:solidFill>
                <a:latin typeface="微軟正黑體"/>
              </a:rPr>
              <a:t>ᙁϯኳࠠǶӢԜଞჹԜౢࠔ೛ी΢Ǵךॺஒ௦Ҕ</a:t>
            </a:r>
          </a:p>
          <a:p>
            <a:pPr/>
            <a:r>
              <a:rPr sz="2400" b="1">
                <a:solidFill>
                  <a:srgbClr val="323232"/>
                </a:solidFill>
                <a:latin typeface="微軟正黑體"/>
              </a:rPr>
              <a:t>M. Joshi</a:t>
            </a:r>
          </a:p>
          <a:p>
            <a:pPr/>
            <a:r>
              <a:rPr sz="2400" b="1">
                <a:solidFill>
                  <a:srgbClr val="323232"/>
                </a:solidFill>
                <a:latin typeface="微軟正黑體"/>
              </a:rPr>
              <a:t>೸ၸׯؼ</a:t>
            </a:r>
          </a:p>
          <a:p>
            <a:pPr/>
            <a:r>
              <a:rPr sz="2400" b="1">
                <a:solidFill>
                  <a:srgbClr val="323232"/>
                </a:solidFill>
                <a:latin typeface="微軟正黑體"/>
              </a:rPr>
              <a:t>Schlogl</a:t>
            </a:r>
          </a:p>
          <a:p>
            <a:pPr/>
            <a:r>
              <a:rPr sz="2400" b="1">
                <a:solidFill>
                  <a:srgbClr val="323232"/>
                </a:solidFill>
                <a:latin typeface="微軟正黑體"/>
              </a:rPr>
              <a:t>ϣකݤٰ</a:t>
            </a:r>
          </a:p>
          <a:p>
            <a:pPr/>
            <a:r>
              <a:rPr sz="2400" b="1">
                <a:solidFill>
                  <a:srgbClr val="323232"/>
                </a:solidFill>
                <a:latin typeface="微軟正黑體"/>
              </a:rPr>
              <a:t>຾Չ</a:t>
            </a:r>
          </a:p>
          <a:p>
            <a:pPr/>
            <a:r>
              <a:rPr sz="2400" b="1">
                <a:solidFill>
                  <a:srgbClr val="323232"/>
                </a:solidFill>
                <a:latin typeface="微軟正黑體"/>
              </a:rPr>
              <a:t>CCDRA</a:t>
            </a:r>
          </a:p>
          <a:p>
            <a:pPr/>
            <a:r>
              <a:rPr sz="2400" b="1">
                <a:solidFill>
                  <a:srgbClr val="323232"/>
                </a:solidFill>
                <a:latin typeface="微軟正黑體"/>
              </a:rPr>
              <a:t>ϐຑሽǶ</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Եቾ୔໔ी৲ౢࠔ؂΋ी৲୔໔ಖᗺ (" # 2) ሡЍб୔໔ी৲ $ Ǵځ୔໔ी৲ё ߄ҢӵΠǴ $ = % &amp; ' * Ǵ ځύ &amp; ߄Ңಃ (" &gt; ?) ϐी৲୔໔ВኧǴ @(A) ߄ҢୖԵճ౗ܭ A ਔᗺޑճ౗Ǵ A ߾߄Ң ਔᗺ Կಃ C ঁी৲Вය໔໔႖Ƕӧჴ୍΢ % ΋૓ёࣁᒿᐒޑǴԶ D Ϸ E ΋૓௃ݩࣁ ๏ۓڄኧ ( ӧԜ೛ࣁۓॶ ) Ƕ ӧ CDRA ύౢࠔ௃ნз (!) = " (!) Ǵ % = ' Ǵ ջୖԵճ౗ࣁ * Ϻයϐ CMS ճ ౗Ǵ٠з % ४ኧࣁۓॶ ' Ǵଆۈܭ ! ਔᗺϐ୔໔ी৲ౢࠔǶࣁᙁϯࡕុኳࠠ௢ᏤǴз + (. ) = + (. |/ ) Ǵځύ΢኱ ! ჹᔈܭа 0(!, 1) ࣁीሽൂՏϐ martingale ෳࡋǹԶऩค ΢኱Ǵ߾߄Ңჹᔈܭа 2(!) ࣁीሽൂՏϐ martingale ෳࡋǶќѦǴз 3(!) = 1 5 ! аϷ 6(!) = ! 5 1 ߄Ңਔᗺ ! ԿΠ΋ी৲ВаϷ߻΋ी৲Вϐ߻໔໔႖Ǵځύ 8 (!) = 8(!) 5 : Ƕ җܭԜԛჴբౢࠔࣁ؂В୔໔ी৲ౢࠔǴࣁᙁϯኳࠠаϷࡕុኳࠠࢎᄬᅈى΋ठ ܄ǴӧԜךॺஒी৲୔໔җ؂Вी৲ϩപࣁၨቨය໔ᓎ౗ϐ୔໔໣ӝǴջ 1 &lt; 1 &lt; ? &lt; 1 Ƕ 2 ǵ ୔໔ी৲ϣකݤ ೸ၸᙁϯࡕޑ LMM ኳࠠჹܭኳᔕрϐၡ৩ёౢғрჹᔈ T Կ T ਔᗺϐ CMS ճ౗ " (E) ǴฅԶӧ CDRA ౢࠔຑሽύǴךॺᔈԵໆ؂В୔໔ी৲ϐёૈ ܄ǴӢԜךё೸ၸᙁൂϣකݤ՗ᆉኳᔕрϐճ౗ၡ৩ပΕी৲୔໔ϐёૈ܄Ƕ з = GH*I (1 ),  (1 )K Ǵ = GMNI (1 ),  (1 )K Ǵ߾ךॺԖ CMS ճ౗ပ ܭ୔໔ϣϐК౗ H!MO ӵΠǴ Ratio = Q ! 1, " # $ # $ # ' 0, $ # "( )*( $ + ' -./2', $ 3 4 -562", $ 3 $ 4 $ , 7897( 3 ǵ നλѳБᆾӦьᛥݤ (Least Square Monte Carlo Simulation Method) ᆾӦьᛥኳᔕݤΏࢂ٬Ҕᐒ౗΢ޑεኧݤ߾Ǵଞჹ՗ीჹຝύޑᒿᐒᡂኧǴճҔ ӭԛϸᙟޑኳᔕჴᡍǴவԶளډ՗ीჹຝޑёૈ่݀ǶฅԶ໺಍ᆾӦьᛥݤ໻ૈଞჹ</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 ġ˰怆⡆✳⎗⍾㴰⇑䌯Ṍ㎃㈨埻㔯ẞ˱ġ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⃫⭴嫱⇠⁝⇠悐ġ</a:t>
            </a:r>
          </a:p>
          <a:p>
            <a:pPr/>
            <a:r>
              <a:rPr sz="2400" b="1">
                <a:solidFill>
                  <a:srgbClr val="323232"/>
                </a:solidFill>
                <a:latin typeface="微軟正黑體"/>
              </a:rPr>
              <a:t>ġ ġ ġ ġ ġ ġ ġ ġ ġ ġ ġ ġ ġ ġ ġ ġ ġ ġ ġ ġ ġ ġ ġ ġ</a:t>
            </a:r>
          </a:p>
          <a:p>
            <a:pPr/>
            <a:r>
              <a:rPr sz="2400" b="1">
                <a:solidFill>
                  <a:srgbClr val="323232"/>
                </a:solidFill>
                <a:latin typeface="微軟正黑體"/>
              </a:rPr>
              <a:t>7</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lvl="1"/>
            <a:r>
              <a:rPr sz="1800">
                <a:solidFill>
                  <a:srgbClr val="323232"/>
                </a:solidFill>
                <a:latin typeface="微軟正黑體"/>
              </a:rPr>
              <a:t>• 013</a:t>
            </a:r>
          </a:p>
          <a:p>
            <a:pPr/>
            <a:r>
              <a:rPr sz="2400" b="1">
                <a:solidFill>
                  <a:srgbClr val="323232"/>
                </a:solidFill>
                <a:latin typeface="微軟正黑體"/>
              </a:rPr>
              <a:t>45</a:t>
            </a:r>
          </a:p>
          <a:p>
            <a:pPr lvl="1"/>
            <a:r>
              <a:rPr sz="1800">
                <a:solidFill>
                  <a:srgbClr val="323232"/>
                </a:solidFill>
                <a:latin typeface="微軟正黑體"/>
              </a:rPr>
              <a:t>• 6</a:t>
            </a:r>
          </a:p>
          <a:p>
            <a:pPr lvl="1"/>
            <a:r>
              <a:rPr sz="1800">
                <a:solidFill>
                  <a:srgbClr val="323232"/>
                </a:solidFill>
                <a:latin typeface="微軟正黑體"/>
              </a:rPr>
              <a:t>• 013</a:t>
            </a:r>
          </a:p>
          <a:p>
            <a:pPr/>
            <a:r>
              <a:rPr sz="2400" b="1">
                <a:solidFill>
                  <a:srgbClr val="323232"/>
                </a:solidFill>
                <a:latin typeface="微軟正黑體"/>
              </a:rPr>
              <a:t>7,8</a:t>
            </a:r>
          </a:p>
          <a:p>
            <a:pPr/>
            <a:r>
              <a:rPr sz="2400" b="1">
                <a:solidFill>
                  <a:srgbClr val="323232"/>
                </a:solidFill>
                <a:latin typeface="微軟正黑體"/>
              </a:rPr>
              <a:t>9</a:t>
            </a:r>
          </a:p>
          <a:p>
            <a:pPr lvl="1"/>
            <a:r>
              <a:rPr sz="1800">
                <a:solidFill>
                  <a:srgbClr val="323232"/>
                </a:solidFill>
                <a:latin typeface="微軟正黑體"/>
              </a:rPr>
              <a:t>• 0</a:t>
            </a:r>
          </a:p>
          <a:p>
            <a:pPr/>
            <a:r>
              <a:rPr sz="2400" b="1">
                <a:solidFill>
                  <a:srgbClr val="323232"/>
                </a:solidFill>
                <a:latin typeface="微軟正黑體"/>
              </a:rPr>
              <a:t>:;&lt;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!B&lt;</a:t>
            </a:r>
          </a:p>
          <a:p>
            <a:pPr/>
            <a:r>
              <a:rPr sz="2400" b="1">
                <a:solidFill>
                  <a:srgbClr val="323232"/>
                </a:solidFill>
                <a:latin typeface="微軟正黑體"/>
              </a:rPr>
              <a:t>!B&lt;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&amp;</a:t>
            </a:r>
          </a:p>
          <a:p>
            <a:pPr/>
            <a:r>
              <a:rPr sz="2400" b="1">
                <a:solidFill>
                  <a:srgbClr val="323232"/>
                </a:solidFill>
                <a:latin typeface="微軟正黑體"/>
              </a:rPr>
              <a:t>&amp;</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4(#)</a:t>
            </a:r>
          </a:p>
          <a:p>
            <a:pPr/>
            <a:r>
              <a:rPr sz="2400" b="1">
                <a:solidFill>
                  <a:srgbClr val="323232"/>
                </a:solidFill>
                <a:latin typeface="微軟正黑體"/>
              </a:rPr>
              <a:t>4</a:t>
            </a:r>
          </a:p>
          <a:p>
            <a:pPr lvl="1"/>
            <a:r>
              <a:rPr sz="1800">
                <a:solidFill>
                  <a:srgbClr val="323232"/>
                </a:solidFill>
                <a:latin typeface="微軟正黑體"/>
              </a:rPr>
              <a:t>• 7</a:t>
            </a:r>
          </a:p>
          <a:p>
            <a:pPr/>
            <a:r>
              <a:rPr sz="2400" b="1">
                <a:solidFill>
                  <a:srgbClr val="323232"/>
                </a:solidFill>
                <a:latin typeface="微軟正黑體"/>
              </a:rPr>
              <a:t>(#)</a:t>
            </a:r>
          </a:p>
          <a:p>
            <a:pPr/>
            <a:r>
              <a:rPr sz="2400" b="1">
                <a:solidFill>
                  <a:srgbClr val="323232"/>
                </a:solidFill>
                <a:latin typeface="微軟正黑體"/>
              </a:rPr>
              <a:t>9</a:t>
            </a:r>
          </a:p>
          <a:p>
            <a:pPr/>
            <a:r>
              <a:rPr sz="2400" b="1">
                <a:solidFill>
                  <a:srgbClr val="323232"/>
                </a:solidFill>
                <a:latin typeface="微軟正黑體"/>
              </a:rPr>
              <a:t>;</a:t>
            </a:r>
          </a:p>
          <a:p>
            <a:pPr/>
            <a:r>
              <a:rPr sz="2400" b="1">
                <a:solidFill>
                  <a:srgbClr val="323232"/>
                </a:solidFill>
                <a:latin typeface="微軟正黑體"/>
              </a:rPr>
              <a:t>&gt;</a:t>
            </a:r>
          </a:p>
          <a:p>
            <a:pPr/>
            <a:r>
              <a:rPr sz="2400" b="1">
                <a:solidFill>
                  <a:srgbClr val="323232"/>
                </a:solidFill>
                <a:latin typeface="微軟正黑體"/>
              </a:rPr>
              <a:t>@A&gt;</a:t>
            </a:r>
          </a:p>
          <a:p>
            <a:pPr/>
            <a:r>
              <a:rPr sz="2400" b="1">
                <a:solidFill>
                  <a:srgbClr val="323232"/>
                </a:solidFill>
                <a:latin typeface="微軟正黑體"/>
              </a:rPr>
              <a:t>B(C)</a:t>
            </a:r>
          </a:p>
          <a:p>
            <a:pPr/>
            <a:r>
              <a:rPr sz="2400" b="1">
                <a:solidFill>
                  <a:srgbClr val="323232"/>
                </a:solidFill>
                <a:latin typeface="微軟正黑體"/>
              </a:rPr>
              <a:t>DA&gt;</a:t>
            </a:r>
          </a:p>
          <a:p>
            <a:pPr/>
            <a:r>
              <a:rPr sz="2400" b="1">
                <a:solidFill>
                  <a:srgbClr val="323232"/>
                </a:solidFill>
                <a:latin typeface="微軟正黑體"/>
              </a:rPr>
              <a:t>#,$</a:t>
            </a:r>
          </a:p>
          <a:p>
            <a:pPr/>
            <a:r>
              <a:rPr sz="2400" b="1">
                <a:solidFill>
                  <a:srgbClr val="323232"/>
                </a:solidFill>
                <a:latin typeface="微軟正黑體"/>
              </a:rPr>
              <a:t>F</a:t>
            </a:r>
          </a:p>
          <a:p>
            <a:pPr/>
            <a:r>
              <a:rPr sz="2400" b="1">
                <a:solidFill>
                  <a:srgbClr val="323232"/>
                </a:solidFill>
                <a:latin typeface="微軟正黑體"/>
              </a:rPr>
              <a:t>&amp;J&gt;</a:t>
            </a:r>
          </a:p>
          <a:p>
            <a:pPr/>
            <a:r>
              <a:rPr sz="2400" b="1">
                <a:solidFill>
                  <a:srgbClr val="323232"/>
                </a:solidFill>
                <a:latin typeface="微軟正黑體"/>
              </a:rPr>
              <a:t>&amp;</a:t>
            </a:r>
          </a:p>
          <a:p>
            <a:pPr/>
            <a:r>
              <a:rPr sz="2400" b="1">
                <a:solidFill>
                  <a:srgbClr val="323232"/>
                </a:solidFill>
                <a:latin typeface="微軟正黑體"/>
              </a:rPr>
              <a:t>L</a:t>
            </a:r>
          </a:p>
          <a:p>
            <a:pPr/>
            <a:r>
              <a:rPr sz="2400" b="1">
                <a:solidFill>
                  <a:srgbClr val="323232"/>
                </a:solidFill>
                <a:latin typeface="微軟正黑體"/>
              </a:rPr>
              <a:t>&amp;J&gt;</a:t>
            </a:r>
          </a:p>
          <a:p>
            <a:pPr/>
            <a:r>
              <a:rPr sz="2400" b="1">
                <a:solidFill>
                  <a:srgbClr val="323232"/>
                </a:solidFill>
                <a:latin typeface="微軟正黑體"/>
              </a:rPr>
              <a:t>&amp;</a:t>
            </a:r>
          </a:p>
          <a:p>
            <a:pPr/>
            <a:r>
              <a:rPr sz="2400" b="1">
                <a:solidFill>
                  <a:srgbClr val="323232"/>
                </a:solidFill>
                <a:latin typeface="微軟正黑體"/>
              </a:rPr>
              <a:t>&amp;</a:t>
            </a:r>
          </a:p>
          <a:p>
            <a:pPr/>
            <a:r>
              <a:rPr sz="2400" b="1">
                <a:solidFill>
                  <a:srgbClr val="323232"/>
                </a:solidFill>
                <a:latin typeface="微軟正黑體"/>
              </a:rPr>
              <a:t>P</a:t>
            </a:r>
          </a:p>
          <a:p>
            <a:pPr/>
            <a:r>
              <a:rPr sz="2400" b="1">
                <a:solidFill>
                  <a:srgbClr val="323232"/>
                </a:solidFill>
                <a:latin typeface="微軟正黑體"/>
              </a:rPr>
              <a:t>%</a:t>
            </a:r>
          </a:p>
          <a:p>
            <a:pPr/>
            <a:r>
              <a:rPr sz="2400" b="1">
                <a:solidFill>
                  <a:srgbClr val="323232"/>
                </a:solidFill>
                <a:latin typeface="微軟正黑體"/>
              </a:rPr>
              <a:t>&amp;</a:t>
            </a:r>
          </a:p>
          <a:p>
            <a:pPr/>
            <a:r>
              <a:rPr sz="2400" b="1">
                <a:solidFill>
                  <a:srgbClr val="323232"/>
                </a:solidFill>
                <a:latin typeface="微軟正黑體"/>
              </a:rPr>
              <a:t>&amp;</a:t>
            </a:r>
          </a:p>
          <a:p>
            <a:pPr/>
            <a:r>
              <a:rPr sz="2400" b="1">
                <a:solidFill>
                  <a:srgbClr val="323232"/>
                </a:solidFill>
                <a:latin typeface="微軟正黑體"/>
              </a:rPr>
              <a:t>%</a:t>
            </a:r>
          </a:p>
          <a:p>
            <a:pPr/>
            <a:r>
              <a:rPr sz="2400" b="1">
                <a:solidFill>
                  <a:srgbClr val="323232"/>
                </a:solidFill>
                <a:latin typeface="微軟正黑體"/>
              </a:rPr>
              <a:t>&amp;</a:t>
            </a:r>
          </a:p>
          <a:p>
            <a:pPr/>
            <a:r>
              <a:rPr sz="2400" b="1">
                <a:solidFill>
                  <a:srgbClr val="323232"/>
                </a:solidFill>
                <a:latin typeface="微軟正黑體"/>
              </a:rPr>
              <a:t>%</a:t>
            </a:r>
          </a:p>
          <a:p>
            <a:pPr/>
            <a:r>
              <a:rPr sz="2400" b="1">
                <a:solidFill>
                  <a:srgbClr val="323232"/>
                </a:solidFill>
                <a:latin typeface="微軟正黑體"/>
              </a:rPr>
              <a:t>&amp;</a:t>
            </a:r>
          </a:p>
          <a:p>
            <a:pPr/>
            <a:r>
              <a:rPr sz="2400" b="1">
                <a:solidFill>
                  <a:srgbClr val="323232"/>
                </a:solidFill>
                <a:latin typeface="微軟正黑體"/>
              </a:rPr>
              <a:t>%</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ኻԄᒧ᏷៾ϐߎᑼౢࠔ຾ՉۓሽǴคݤຑሽග߻ቬऊϐ୘ࠔཞ੻ǶӢԜӧຑሽх֖ऍ Ԅ܈ࢂ٥ࢪԄᒧ᏷៾ϐߎᑼ୘ࠔਔǴሡाᔈҔόӕ಍ीБݤа՗ीኳᔕၡ৩Πന٫Չ ៾ਔᗺǶӧԜౢࠔύջᔈҔനλѳБᆾӦьᛥݤǴ೸ၸ΢ॊക࿯܌௢Ꮴрϐౢࠔሽ਱ ኳᔕၡ৩຾΋؁՗ᆉр؂చሽ਱ၡ৩Πޑന٫Չ៾ਔ໔ᗺǴ຾Զ௢ᆉຑሽਔ໔ᗺϐౢ ࠔ౛ፕሽ਱Ƕ ӧԜЎҹύటຑሽϐ CCDRA ሽ਱Ǵځб৲ߎᚐࢂਥᏵࠨऊය໔ϣୖԵճ౗ပΕ ी৲୔໔Вኧբࣁղᘐ٩ᏵǴ֖Ԗၡ৩࣬ᜢޑ੝܄ǴӢԜ೸ၸ LMM ኳࠠૈ୼ඔᛤр ࠨऊය໔ϣόӕਔᗺϐୖԵճ౗ჹᔈϐ୘ࠔሽ਱Ǵ٠٩Ԝղᘐ CCDRA ౜ߎࢬǶჴբ ࢬำӵΠ : (1) ճҔ΢ॊക࿯܌௢Ꮴрϐᇻයճ౗ᘉණБำԄё৖рኧచ LMM ኳࠠΠϐᇻ යճ౗ၡ৩ (") Ƕ (2) ೸ၸኳᔕрϐᇻයճ౗Ǵךॺёीᆉр CMS ճ౗Ǵ ! " (&amp;) = ' * -. (&amp; / 01) (3) ᙖҗ୔໔ी৲ϣකݤ՗ीр؂΋చၡ৩Π CMS ճ౗ပΕी৲୔໔ϐी৲Ϻ ኧаϷ CCDRA ܭҺཀՉ៾ਔᗺ ϐቬऊཞ੻Ǵ "#$ = '#"() × * !"#$$ = ' × (1 + ) * × -!. 4 (4) ճҔ LSMC ݤ؃ளಃ j చၡ৩ӧਔ໔ᗺ t ਔޑ CCDRA చҹයఈॶ [!!"#$] Ǵջᝩុ࡭Ԗ CCDRA ޑሽॶǶ [!!"#$] =  '!!"#$ ()# * . ځύ )# * ࣁಃ / చၡ৩ӧਔ໔ᗺ t ਔޑ CMS ճ౗Ǵ !!"#$ ࣁ࣬ჹܭӧਔ໔ ᗺ 0 ਔ҂ቬऊޑ CCDRA ሽॶǶ (5) ؃ᆉрਔ໔ᗺ ਔ ! ၡ৩ޑᒧ᏷៾යఈᝩុ࡭Ԗሽॶ "[##$%&amp;] Ǵ٠ᆶග߻ ᠑ӣሽ #)** ڗځനεॶࣁ ਔᗺ ! ၡ৩ޑ CCDRA ౛ፕሽॶǶ (6) ӣډ (4) Ǵޔډ = 0 ջࣁຑሽਔޑ౛ፕሽॶǶ (7) നࡕע܌Ԗၡ৩ӧ = 0 ਔޑ౛ፕሽॶуᕴѳ֡ջࣁ CCDRA ϐ౛ፕሽॶǶ</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 ġ˰怆⡆✳⎗⍾㴰⇑䌯Ṍ㎃㈨埻㔯ẞ˱ġ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⃫⭴嫱⇠⁝⇠悐ġ</a:t>
            </a:r>
          </a:p>
          <a:p>
            <a:pPr/>
            <a:r>
              <a:rPr sz="2400" b="1">
                <a:solidFill>
                  <a:srgbClr val="323232"/>
                </a:solidFill>
                <a:latin typeface="微軟正黑體"/>
              </a:rPr>
              <a:t>ġ ġ ġ ġ ġ ġ ġ ġ ġ ġ ġ ġ ġ ġ ġ ġ ġ ġ ġ ġ ġ ġ ġ ġ</a:t>
            </a:r>
          </a:p>
          <a:p>
            <a:pPr/>
            <a:r>
              <a:rPr sz="2400" b="1">
                <a:solidFill>
                  <a:srgbClr val="323232"/>
                </a:solidFill>
                <a:latin typeface="微軟正黑體"/>
              </a:rPr>
              <a:t>8</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$23</a:t>
            </a:r>
          </a:p>
          <a:p>
            <a:pPr/>
            <a:r>
              <a:rPr sz="2400" b="1">
                <a:solidFill>
                  <a:srgbClr val="323232"/>
                </a:solidFill>
                <a:latin typeface="微軟正黑體"/>
              </a:rPr>
              <a:t>+45</a:t>
            </a:r>
          </a:p>
          <a:p>
            <a:pPr/>
            <a:r>
              <a:rPr sz="2400" b="1">
                <a:solidFill>
                  <a:srgbClr val="323232"/>
                </a:solidFill>
                <a:latin typeface="微軟正黑體"/>
              </a:rPr>
              <a:t>!</a:t>
            </a:r>
          </a:p>
          <a:p>
            <a:pPr/>
            <a:r>
              <a:rPr sz="2400" b="1">
                <a:solidFill>
                  <a:srgbClr val="323232"/>
                </a:solidFill>
                <a:latin typeface="微軟正黑體"/>
              </a:rPr>
              <a:t>%,&amp;</a:t>
            </a:r>
          </a:p>
          <a:p>
            <a:pPr/>
            <a:r>
              <a:rPr sz="2400" b="1">
                <a:solidFill>
                  <a:srgbClr val="323232"/>
                </a:solidFill>
                <a:latin typeface="微軟正黑體"/>
              </a:rPr>
              <a:t>%,&amp;</a:t>
            </a:r>
          </a:p>
          <a:p>
            <a:pPr/>
            <a:r>
              <a:rPr sz="2400" b="1">
                <a:solidFill>
                  <a:srgbClr val="323232"/>
                </a:solidFill>
                <a:latin typeface="微軟正黑體"/>
              </a:rPr>
              <a:t>%,&amp;</a:t>
            </a:r>
          </a:p>
          <a:p>
            <a:pPr/>
            <a:r>
              <a:rPr sz="2400" b="1">
                <a:solidFill>
                  <a:srgbClr val="323232"/>
                </a:solidFill>
                <a:latin typeface="微軟正黑體"/>
              </a:rPr>
              <a:t>%,&amp;</a:t>
            </a:r>
          </a:p>
          <a:p>
            <a:pPr/>
            <a:r>
              <a:rPr sz="2400" b="1">
                <a:solidFill>
                  <a:srgbClr val="323232"/>
                </a:solidFill>
                <a:latin typeface="微軟正黑體"/>
              </a:rPr>
              <a:t>/</a:t>
            </a:r>
          </a:p>
          <a:p>
            <a:pPr lvl="1"/>
            <a:r>
              <a:rPr sz="1800">
                <a:solidFill>
                  <a:srgbClr val="323232"/>
                </a:solidFill>
                <a:latin typeface="微軟正黑體"/>
              </a:rPr>
              <a:t>• 0</a:t>
            </a:r>
          </a:p>
          <a:p>
            <a:pPr/>
            <a:r>
              <a:rPr sz="2400" b="1">
                <a:solidFill>
                  <a:srgbClr val="323232"/>
                </a:solidFill>
                <a:latin typeface="微軟正黑體"/>
              </a:rPr>
              <a:t>&amp;23</a:t>
            </a:r>
          </a:p>
          <a:p>
            <a:pPr/>
            <a:r>
              <a:rPr sz="2400" b="1">
                <a:solidFill>
                  <a:srgbClr val="323232"/>
                </a:solidFill>
                <a:latin typeface="微軟正黑體"/>
              </a:rPr>
              <a:t>%,&amp;</a:t>
            </a:r>
          </a:p>
          <a:p>
            <a:pPr/>
            <a:r>
              <a:rPr sz="2400" b="1">
                <a:solidFill>
                  <a:srgbClr val="323232"/>
                </a:solidFill>
                <a:latin typeface="微軟正黑體"/>
              </a:rPr>
              <a:t>%,&amp;</a:t>
            </a:r>
          </a:p>
          <a:p>
            <a:pPr/>
            <a:r>
              <a:rPr sz="2400" b="1">
                <a:solidFill>
                  <a:srgbClr val="323232"/>
                </a:solidFill>
                <a:latin typeface="微軟正黑體"/>
              </a:rPr>
              <a:t>%,&amp;</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%,&amp;</a:t>
            </a:r>
          </a:p>
          <a:p>
            <a:pPr/>
            <a:r>
              <a:rPr sz="2400" b="1">
                <a:solidFill>
                  <a:srgbClr val="323232"/>
                </a:solidFill>
                <a:latin typeface="微軟正黑體"/>
              </a:rPr>
              <a:t>',(</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Quant Lib ჴբำԄࢬำᇥܴ</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ҁౢࠔϐำԄჴբᇥܴǴ᠙ܭ</a:t>
            </a:r>
          </a:p>
          <a:p>
            <a:pPr/>
            <a:r>
              <a:rPr sz="2400" b="1">
                <a:solidFill>
                  <a:srgbClr val="323232"/>
                </a:solidFill>
                <a:latin typeface="微軟正黑體"/>
              </a:rPr>
              <a:t>Quant Lib</a:t>
            </a:r>
          </a:p>
          <a:p>
            <a:pPr/>
            <a:r>
              <a:rPr sz="2400" b="1">
                <a:solidFill>
                  <a:srgbClr val="323232"/>
                </a:solidFill>
                <a:latin typeface="微軟正黑體"/>
              </a:rPr>
              <a:t>ำԄ৤</a:t>
            </a:r>
          </a:p>
          <a:p>
            <a:pPr/>
            <a:r>
              <a:rPr sz="2400" b="1">
                <a:solidFill>
                  <a:srgbClr val="323232"/>
                </a:solidFill>
                <a:latin typeface="微軟正黑體"/>
              </a:rPr>
              <a:t>(</a:t>
            </a:r>
          </a:p>
          <a:p>
            <a:pPr/>
            <a:r>
              <a:rPr sz="2400" b="1">
                <a:solidFill>
                  <a:srgbClr val="323232"/>
                </a:solidFill>
                <a:latin typeface="微軟正黑體"/>
              </a:rPr>
              <a:t>аΠᙁᆀ</a:t>
            </a:r>
          </a:p>
          <a:p>
            <a:pPr/>
            <a:r>
              <a:rPr sz="2400" b="1">
                <a:solidFill>
                  <a:srgbClr val="323232"/>
                </a:solidFill>
                <a:latin typeface="微軟正黑體"/>
              </a:rPr>
              <a:t>QL)</a:t>
            </a:r>
          </a:p>
          <a:p>
            <a:pPr/>
            <a:r>
              <a:rPr sz="2400" b="1">
                <a:solidFill>
                  <a:srgbClr val="323232"/>
                </a:solidFill>
                <a:latin typeface="微軟正黑體"/>
              </a:rPr>
              <a:t>஑ਢϐ೽ϩނҹǴܭϦ</a:t>
            </a:r>
          </a:p>
          <a:p>
            <a:pPr/>
            <a:r>
              <a:rPr sz="2400" b="1">
                <a:solidFill>
                  <a:srgbClr val="323232"/>
                </a:solidFill>
                <a:latin typeface="微軟正黑體"/>
              </a:rPr>
              <a:t>љϣ೽ςԖ࣬ᜢౢࠔϐמೌЎҹ೵ՉᇥܴǴࡺӧԜ໻аԜౢࠔຑሽύߚྍғܭ</a:t>
            </a:r>
          </a:p>
          <a:p>
            <a:pPr/>
            <a:r>
              <a:rPr sz="2400" b="1">
                <a:solidFill>
                  <a:srgbClr val="323232"/>
                </a:solidFill>
                <a:latin typeface="微軟正黑體"/>
              </a:rPr>
              <a:t>QL</a:t>
            </a:r>
          </a:p>
          <a:p>
            <a:pPr/>
            <a:r>
              <a:rPr sz="2400" b="1">
                <a:solidFill>
                  <a:srgbClr val="323232"/>
                </a:solidFill>
                <a:latin typeface="微軟正黑體"/>
              </a:rPr>
              <a:t>ϣ೽ނ</a:t>
            </a:r>
          </a:p>
          <a:p>
            <a:pPr/>
            <a:r>
              <a:rPr sz="2400" b="1">
                <a:solidFill>
                  <a:srgbClr val="323232"/>
                </a:solidFill>
                <a:latin typeface="微軟正黑體"/>
              </a:rPr>
              <a:t>ҹǴ׭܈ࢂၸѐౢࠔࣁჴբၸϐނҹ຾ՉᇥܴǶќѦǴຑሽࢬำ೽ϩ߾௦ಃ΋ക࿯ϐಃ</a:t>
            </a:r>
          </a:p>
          <a:p>
            <a:pPr/>
            <a:r>
              <a:rPr sz="2400" b="1">
                <a:solidFill>
                  <a:srgbClr val="323232"/>
                </a:solidFill>
                <a:latin typeface="微軟正黑體"/>
              </a:rPr>
              <a:t>1</a:t>
            </a:r>
          </a:p>
          <a:p>
            <a:pPr/>
            <a:r>
              <a:rPr sz="2400" b="1">
                <a:solidFill>
                  <a:srgbClr val="323232"/>
                </a:solidFill>
                <a:latin typeface="微軟正黑體"/>
              </a:rPr>
              <a:t>λ࿯ϐጄٯࠨऊբࣁჴሞጄٯǶ</a:t>
            </a:r>
          </a:p>
          <a:p>
            <a:pPr/>
            <a:r>
              <a:rPr sz="2400" b="1">
                <a:solidFill>
                  <a:srgbClr val="323232"/>
                </a:solidFill>
                <a:latin typeface="微軟正黑體"/>
              </a:rPr>
              <a:t>1</a:t>
            </a:r>
          </a:p>
          <a:p>
            <a:pPr/>
            <a:r>
              <a:rPr sz="2400" b="1">
                <a:solidFill>
                  <a:srgbClr val="323232"/>
                </a:solidFill>
                <a:latin typeface="微軟正黑體"/>
              </a:rPr>
              <a:t>ǵ ճ౗ය໔่ᄬჴբ</a:t>
            </a:r>
          </a:p>
          <a:p>
            <a:pPr/>
            <a:r>
              <a:rPr sz="2400" b="1">
                <a:solidFill>
                  <a:srgbClr val="323232"/>
                </a:solidFill>
                <a:latin typeface="微軟正黑體"/>
              </a:rPr>
              <a:t>ճ౗ය໔ԔጕჴբёୖԵȜ႟৲໸ё᠑ӣ໸چמೌЎҹȝϐճ౗ය໔ԔጕჴբǶ</a:t>
            </a:r>
          </a:p>
          <a:p>
            <a:pPr/>
            <a:r>
              <a:rPr sz="2400" b="1">
                <a:solidFill>
                  <a:srgbClr val="323232"/>
                </a:solidFill>
                <a:latin typeface="微軟正黑體"/>
              </a:rPr>
              <a:t>ԜำԄϐԔጕࡌᄬҗ</a:t>
            </a:r>
          </a:p>
          <a:p>
            <a:pPr/>
            <a:r>
              <a:rPr sz="2400" b="1">
                <a:solidFill>
                  <a:srgbClr val="323232"/>
                </a:solidFill>
                <a:latin typeface="微軟正黑體"/>
              </a:rPr>
              <a:t>C#</a:t>
            </a:r>
          </a:p>
          <a:p>
            <a:pPr/>
            <a:r>
              <a:rPr sz="2400" b="1">
                <a:solidFill>
                  <a:srgbClr val="323232"/>
                </a:solidFill>
                <a:latin typeface="微軟正黑體"/>
              </a:rPr>
              <a:t>᠐ڗѦ೽</a:t>
            </a:r>
          </a:p>
          <a:p>
            <a:pPr/>
            <a:r>
              <a:rPr sz="2400" b="1">
                <a:solidFill>
                  <a:srgbClr val="323232"/>
                </a:solidFill>
                <a:latin typeface="微軟正黑體"/>
              </a:rPr>
              <a:t>csv</a:t>
            </a:r>
          </a:p>
          <a:p>
            <a:pPr/>
            <a:r>
              <a:rPr sz="2400" b="1">
                <a:solidFill>
                  <a:srgbClr val="323232"/>
                </a:solidFill>
                <a:latin typeface="微軟正黑體"/>
              </a:rPr>
              <a:t>ЎҹǴЎҹ਱Ԅڰۓࣁ</a:t>
            </a:r>
          </a:p>
          <a:p>
            <a:pPr/>
            <a:r>
              <a:rPr sz="2400" b="1">
                <a:solidFill>
                  <a:srgbClr val="323232"/>
                </a:solidFill>
                <a:latin typeface="微軟正黑體"/>
              </a:rPr>
              <a:t>Bloomberg</a:t>
            </a:r>
          </a:p>
          <a:p>
            <a:pPr/>
            <a:r>
              <a:rPr sz="2400" b="1">
                <a:solidFill>
                  <a:srgbClr val="323232"/>
                </a:solidFill>
                <a:latin typeface="微軟正黑體"/>
              </a:rPr>
              <a:t>ᒡрǴऩట</a:t>
            </a:r>
          </a:p>
          <a:p>
            <a:pPr/>
            <a:r>
              <a:rPr sz="2400" b="1">
                <a:solidFill>
                  <a:srgbClr val="323232"/>
                </a:solidFill>
                <a:latin typeface="微軟正黑體"/>
              </a:rPr>
              <a:t>Ћ୏ᒡΕ߾ёܭำԄϣ೽๏ۓǶ</a:t>
            </a:r>
          </a:p>
          <a:p>
            <a:pPr/>
            <a:r>
              <a:rPr sz="2400" b="1">
                <a:solidFill>
                  <a:srgbClr val="323232"/>
                </a:solidFill>
                <a:latin typeface="微軟正黑體"/>
              </a:rPr>
              <a:t>(1)</a:t>
            </a:r>
          </a:p>
          <a:p>
            <a:pPr/>
            <a:r>
              <a:rPr sz="2400" b="1">
                <a:solidFill>
                  <a:srgbClr val="323232"/>
                </a:solidFill>
                <a:latin typeface="微軟正黑體"/>
              </a:rPr>
              <a:t>ࡌᄬճ౗ය໔่ᄬԔጕ</a:t>
            </a:r>
          </a:p>
          <a:p>
            <a:pPr/>
            <a:r>
              <a:rPr sz="2400" b="1">
                <a:solidFill>
                  <a:srgbClr val="323232"/>
                </a:solidFill>
                <a:latin typeface="微軟正黑體"/>
              </a:rPr>
              <a:t>ᒡΕຑሽВϷճ౗ᔞၡ৩Ǵ᠐ڗѦ೽ճ౗ၗ਑ᔞǴ٠೸ၸ</a:t>
            </a:r>
          </a:p>
          <a:p>
            <a:pPr/>
            <a:r>
              <a:rPr sz="2400" b="1">
                <a:solidFill>
                  <a:srgbClr val="323232"/>
                </a:solidFill>
                <a:latin typeface="微軟正黑體"/>
              </a:rPr>
              <a:t>Bootstrapping</a:t>
            </a:r>
          </a:p>
          <a:p>
            <a:pPr/>
            <a:r>
              <a:rPr sz="2400" b="1">
                <a:solidFill>
                  <a:srgbClr val="323232"/>
                </a:solidFill>
                <a:latin typeface="微軟正黑體"/>
              </a:rPr>
              <a:t>ࡌ</a:t>
            </a:r>
          </a:p>
          <a:p>
            <a:pPr/>
            <a:r>
              <a:rPr sz="2400" b="1">
                <a:solidFill>
                  <a:srgbClr val="323232"/>
                </a:solidFill>
                <a:latin typeface="微軟正黑體"/>
              </a:rPr>
              <a:t>ҥճ౗ҬඤԔጕǶ</a:t>
            </a:r>
          </a:p>
          <a:p>
            <a:pPr/>
            <a:r>
              <a:rPr sz="2400" b="1">
                <a:solidFill>
                  <a:srgbClr val="323232"/>
                </a:solidFill>
                <a:latin typeface="微軟正黑體"/>
              </a:rPr>
              <a:t>2</a:t>
            </a:r>
          </a:p>
          <a:p>
            <a:pPr/>
            <a:r>
              <a:rPr sz="2400" b="1">
                <a:solidFill>
                  <a:srgbClr val="323232"/>
                </a:solidFill>
                <a:latin typeface="微軟正黑體"/>
              </a:rPr>
              <a:t>ǵ</a:t>
            </a:r>
          </a:p>
          <a:p>
            <a:pPr/>
            <a:r>
              <a:rPr sz="2400" b="1">
                <a:solidFill>
                  <a:srgbClr val="323232"/>
                </a:solidFill>
                <a:latin typeface="微軟正黑體"/>
              </a:rPr>
              <a:t>LMM</a:t>
            </a:r>
          </a:p>
          <a:p>
            <a:pPr/>
            <a:r>
              <a:rPr sz="2400" b="1">
                <a:solidFill>
                  <a:srgbClr val="323232"/>
                </a:solidFill>
                <a:latin typeface="微軟正黑體"/>
              </a:rPr>
              <a:t>ኳࠠୖኧ</a:t>
            </a:r>
          </a:p>
          <a:p>
            <a:pPr/>
            <a:r>
              <a:rPr sz="2400" b="1">
                <a:solidFill>
                  <a:srgbClr val="323232"/>
                </a:solidFill>
                <a:latin typeface="微軟正黑體"/>
              </a:rPr>
              <a:t>Calibration</a:t>
            </a:r>
          </a:p>
          <a:p>
            <a:pPr/>
            <a:r>
              <a:rPr sz="2400" b="1">
                <a:solidFill>
                  <a:srgbClr val="323232"/>
                </a:solidFill>
                <a:latin typeface="微軟正黑體"/>
              </a:rPr>
              <a:t>ӧ</a:t>
            </a:r>
          </a:p>
          <a:p>
            <a:pPr/>
            <a:r>
              <a:rPr sz="2400" b="1">
                <a:solidFill>
                  <a:srgbClr val="323232"/>
                </a:solidFill>
                <a:latin typeface="微軟正黑體"/>
              </a:rPr>
              <a:t>QL</a:t>
            </a:r>
          </a:p>
          <a:p>
            <a:pPr/>
            <a:r>
              <a:rPr sz="2400" b="1">
                <a:solidFill>
                  <a:srgbClr val="323232"/>
                </a:solidFill>
                <a:latin typeface="微軟正黑體"/>
              </a:rPr>
              <a:t>ำԄ৤္ଞჹόӕኳࠠǴࣣςࡌҥֹ᏾ޑ</a:t>
            </a:r>
          </a:p>
          <a:p>
            <a:pPr/>
            <a:r>
              <a:rPr sz="2400" b="1">
                <a:solidFill>
                  <a:srgbClr val="323232"/>
                </a:solidFill>
                <a:latin typeface="微軟正黑體"/>
              </a:rPr>
              <a:t>Calibrate</a:t>
            </a:r>
          </a:p>
          <a:p>
            <a:pPr/>
            <a:r>
              <a:rPr sz="2400" b="1">
                <a:solidFill>
                  <a:srgbClr val="323232"/>
                </a:solidFill>
                <a:latin typeface="微軟正黑體"/>
              </a:rPr>
              <a:t>ኳಔǶӢԜךॺ໻ሡஒ</a:t>
            </a:r>
          </a:p>
          <a:p>
            <a:pPr/>
            <a:r>
              <a:rPr sz="2400" b="1">
                <a:solidFill>
                  <a:srgbClr val="323232"/>
                </a:solidFill>
                <a:latin typeface="微軟正黑體"/>
              </a:rPr>
              <a:t>ჹᔈኳࠠჴբࡕǴஒѱ൑΢</a:t>
            </a:r>
          </a:p>
          <a:p>
            <a:pPr/>
            <a:r>
              <a:rPr sz="2400" b="1">
                <a:solidFill>
                  <a:srgbClr val="323232"/>
                </a:solidFill>
                <a:latin typeface="微軟正黑體"/>
              </a:rPr>
              <a:t>Swaption</a:t>
            </a:r>
          </a:p>
          <a:p>
            <a:pPr/>
            <a:r>
              <a:rPr sz="2400" b="1">
                <a:solidFill>
                  <a:srgbClr val="323232"/>
                </a:solidFill>
                <a:latin typeface="微軟正黑體"/>
              </a:rPr>
              <a:t>ϐ</a:t>
            </a:r>
          </a:p>
          <a:p>
            <a:pPr/>
            <a:r>
              <a:rPr sz="2400" b="1">
                <a:solidFill>
                  <a:srgbClr val="323232"/>
                </a:solidFill>
                <a:latin typeface="微軟正黑體"/>
              </a:rPr>
              <a:t>Volatility</a:t>
            </a:r>
          </a:p>
          <a:p>
            <a:pPr/>
            <a:r>
              <a:rPr sz="2400" b="1">
                <a:solidFill>
                  <a:srgbClr val="323232"/>
                </a:solidFill>
                <a:latin typeface="微軟正黑體"/>
              </a:rPr>
              <a:t>ൔሽբࣁਠྗၗ਑ǴջёаԜբࣁ</a:t>
            </a:r>
          </a:p>
          <a:p>
            <a:pPr/>
            <a:r>
              <a:rPr sz="2400" b="1">
                <a:solidFill>
                  <a:srgbClr val="323232"/>
                </a:solidFill>
                <a:latin typeface="微軟正黑體"/>
              </a:rPr>
              <a:t>ҁԛ</a:t>
            </a:r>
          </a:p>
          <a:p>
            <a:pPr/>
            <a:r>
              <a:rPr sz="2400" b="1">
                <a:solidFill>
                  <a:srgbClr val="323232"/>
                </a:solidFill>
                <a:latin typeface="微軟正黑體"/>
              </a:rPr>
              <a:t>LMM</a:t>
            </a:r>
          </a:p>
          <a:p>
            <a:pPr/>
            <a:r>
              <a:rPr sz="2400" b="1">
                <a:solidFill>
                  <a:srgbClr val="323232"/>
                </a:solidFill>
                <a:latin typeface="微軟正黑體"/>
              </a:rPr>
              <a:t>ኳࠠϐୖኧਠྗ</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(1) Swaption ѱ൑ၗ਑ ᒡΕ Swaption ၗ਑ၡ৩Ǵ᠐ڗѦ೽ճ౗ၗ਑ᔞǴ٠ࡌҥ Swaption ่ᄬӛໆ ٮࡕុѱ൑ਠྗ٬ҔǶ (2) Libor Forward Model Process ނҹ ჴբ Libor Forward Model Process ނҹሡᒡΕୖኧோ LMM ኳࠠటኳᔕᇻය ճ౗යኧ (size) ǴаϷኳᔕճ౗ࡰ኱ (Index) Ƕ i. size ࣁኳᔕճ౗ঁኧǴჹܭ่ᄬࠠౢࠔϐኳᔕሡܭࠨऊډයࡕᚐѦኳᔕ ΋යճ౗բࣁ҂ٰ౜ߎࢬש౜٬ҔǶ ii. Index ࣁ LMM ճ౗ࡰ኱Ǵаࠨऊ኱ޑ CMS ճ౗܌ୖྣϐࡰ኱ճ౗ࣁ ୷ྗǴԜጄٯࠨऊࣁ Libor 3M Ƕ (3) LMM Volatility Model ނҹ Ԝ஑ਢჴբ LMM Volatility Model ނҹа QL ϣ೽ำԄ Lm Ext Linear Exponential Vol Model( Ξᆀ ABCD ݢ୏ࡋኳࠠ ) ჴբϐǴځୖኧࣁ LMM ኳࠠࡑ ਠྗୖኧϐ΋Ǵܭѱ൑ਠྗᕉ࿯໻ሡᒡΕ LMM Process ኳᔕճ౗ਔ໔ᗺ (Fixing Times) ϷҺཀѤதኧϩձჹᔈኳࠠϣ೽Ѥ໨ୖኧ (a ǵ b ǵ c ǵ d) ջёǶ (4) LMM Correlation Model Ԝ஑ਢჴբ LMM Correlation Model ނҹа QL ϣ೽ำԄ Lm Linear Exponential Correlation Model ჴբϐǴځୖኧࣁ LMM ኳࠠࡑਠྗୖኧϐ΋Ǵܭ ѱ൑ਠྗᕉ࿯ሡᒡΕኳᔕճ౗ঁኧ (size) аϷჹᔈኳࠠϣ೽ٿୖኧ (rho ǵ beta) ջ ёǶ (5) Libor Forward Model Libor Forward Model ࣁ LMM ኳࠠނҹЬᡏǴ೸ၸ΢ॊނҹ୴᠄ёჴբϐǴ ځୖኧϩձᒡΕ΢ӈ Process ǵ LMM Volatility Model Ϸ LMM Correlation Model ջёჴբϐǶ</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 ġ˰怆⡆✳⎗⍾㴰⇑䌯Ṍ㎃㈨埻㔯ẞ˱ġ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⃫⭴嫱⇠⁝⇠悐ġ</a:t>
            </a:r>
          </a:p>
          <a:p>
            <a:pPr/>
            <a:r>
              <a:rPr sz="2400" b="1">
                <a:solidFill>
                  <a:srgbClr val="323232"/>
                </a:solidFill>
                <a:latin typeface="微軟正黑體"/>
              </a:rPr>
              <a:t>ġ ġ ġ ġ ġ ġ ġ ġ ġ ġ ġ ġ ġ ġ ġ ġ ġ ġ ġ ġ ġ ġ ġ ġ</a:t>
            </a:r>
          </a:p>
          <a:p>
            <a:pPr/>
            <a:r>
              <a:rPr sz="2400" b="1">
                <a:solidFill>
                  <a:srgbClr val="323232"/>
                </a:solidFill>
                <a:latin typeface="微軟正黑體"/>
              </a:rPr>
              <a:t>10</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(6) ჴբ Pricing Engine ނҹ i. Model( ኳࠠଷ೛ ) Ǵջຑሽߎᑼ୘ࠔਔ܌٬Ҕϐଷ೛ኳࠠǴԜೀҗܭך ॺଷ೛ճ౗ܺவ LMM ኳࠠǴࡺךॺа΢΋λ࿯ჴբрϐ LMM ኳࠠբ ࣁୖኧжΕǶ ii. Engine( ຑሽЇᔏ ) ǴӧԜ௦Ҕ QL ำԄ৤ϣࡌ LMM ኳࠠ Swaption ှ݋ ှǴ LFM Swaption Engine բࣁຑሽЇᔏǶ iii. Set Pricing Engine( ຑሽЇᔏ೛ۓ ) Ǵջᒧۓ၀୘ࠔຑሽኳࠠǴԜೀ௦Ҕ ΢΋λ࿯܌ჴբрϐ Engine Ƕ (7) Calibration i. ᙖҗ (1) ܌ᒡΕϐ Swaption ѱ൑ݢ୏ࡋǴࡌҥى୼ኧໆϐ Swaption Helper բࣁѱ൑ਠྗނҹǴ٠೸ၸమൂނҹ໣ӝ΢ॊ Swaption Helper ނҹǶ ii. ჹᔈ΢ॊ؂΋ Swaption Helper ނҹ೛ۓځ Pricing Engine Ƕ iii. ჹςჴբ Libor Forward Model ჴբ calibrate БݤǶ iv. ᒡр Model ୖኧǴջёள LMM ኳࠠѱ൑ਠྗୖኧǶ 3 ǵ LMM Evolution ਥᏵ߻ॊക࿯ϐ LMM ճ౗ኳࠠ௢ᏤǴךॺёჴբр LMM ኳࠠ</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 ġ˰怆⡆✳⎗⍾㴰⇑䌯Ṍ㎃㈨埻㔯ẞ˱ġ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⃫⭴嫱⇠⁝⇠悐ġ</a:t>
            </a:r>
          </a:p>
          <a:p>
            <a:pPr/>
            <a:r>
              <a:rPr sz="2400" b="1">
                <a:solidFill>
                  <a:srgbClr val="323232"/>
                </a:solidFill>
                <a:latin typeface="微軟正黑體"/>
              </a:rPr>
              <a:t>ġ ġ ġ ġ ġ ġ ġ ġ ġ ġ ġ ġ ġ ġ ġ ġ ġ ġ ġ ġ ġ ġ ġ ġ</a:t>
            </a:r>
          </a:p>
          <a:p>
            <a:pPr/>
            <a:r>
              <a:rPr sz="2400" b="1">
                <a:solidFill>
                  <a:srgbClr val="323232"/>
                </a:solidFill>
                <a:latin typeface="微軟正黑體"/>
              </a:rPr>
              <a:t>11</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ᇻයճ౗ᘉණڄኧǴ log ! (#)$ = log ! (%)$ &amp; 1 2 ' (%, #) + * - / + 0 $ Ǵ җܭ΢ॊᇻයճ౗ᘉණڄኧੋϷᡂኧ໔᠄жᜢ߯Ǵऩ٩ൻ໺಍ճ౗څჄБԄஒၸܭᕷ ᅥջ઻ਔǶӢԜჴբ΢ୖԵ QL ࢎᄬϐᇻයճ౗ኳᔕБݤǴࡺӧԜמೌЎҹջόќѦ ຾ՉჴբࢬำᇥܴǴ໻аԜࢎᄬϐཷۺᇶ՘΢ॊക࿯܌௢ᏤϐᡂኧཀကբࣁᇥܴǶ (1) LMM ኳࠠӅᡂ౦ኧ่ᄬ ճ౗ᘉණڄኧሡӃीᆉόӕය໔ϐᇻයճ౗Ӆᡂ౦ኧ (#, $) ǴځύӅᡂ౦ ኧё೸ၸ΢ॊക࿯ϐݢ୏ࡋኳࠠаջ࣬ᜢ߯ኧኳࠠ܌ीᆉрϐݢ୏ࡋ่ᄬаϷ࣬ ᜢ߯ኧ܌ीᆉϐǶ (2) LMM ኳࠠត౽໨ LMM ኳࠠត౽໨ਥᏵ΢ॊക࿯௢Ꮴё߄ҢӵΠǴ % (&amp;($), $) = ' &amp; * ($)+ 1 - &amp; ($)+ . (")</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 ġ˰怆⡆✳⎗⍾㴰⇑䌯Ṍ㎃㈨埻㔯ẞ˱ġ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⃫⭴嫱⇠⁝⇠悐ġ</a:t>
            </a:r>
          </a:p>
          <a:p>
            <a:pPr/>
            <a:r>
              <a:rPr sz="2400" b="1">
                <a:solidFill>
                  <a:srgbClr val="323232"/>
                </a:solidFill>
                <a:latin typeface="微軟正黑體"/>
              </a:rPr>
              <a:t>ġ ġ ġ ġ ġ ġ ġ ġ ġ ġ ġ ġ ġ ġ ġ ġ ġ ġ ġ ġ ġ ġ ġ ġ</a:t>
            </a:r>
          </a:p>
          <a:p>
            <a:pPr/>
            <a:r>
              <a:rPr sz="2400" b="1">
                <a:solidFill>
                  <a:srgbClr val="323232"/>
                </a:solidFill>
                <a:latin typeface="微軟正黑體"/>
              </a:rPr>
              <a:t>12</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3</a:t>
            </a:r>
          </a:p>
          <a:p>
            <a:pPr/>
            <a:r>
              <a:rPr sz="2400" b="1">
                <a:solidFill>
                  <a:srgbClr val="323232"/>
                </a:solidFill>
                <a:latin typeface="微軟正黑體"/>
              </a:rPr>
              <a:t>.45</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a:p>
            <a:pPr/>
            <a:r>
              <a:rPr sz="2400" b="1">
                <a:solidFill>
                  <a:srgbClr val="323232"/>
                </a:solidFill>
                <a:latin typeface="微軟正黑體"/>
              </a:rPr>
              <a:t>!#$(%)</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(3) LMM ᒿᐒ໨ LMM ᒿᐒ໨߯җӅᡂ౦ኧ่ᄬБਥӢη A аϷᒿᐒѲਟၮ୏܌ᄬԋǴځ߄ ҢӵΠǴ 1 2 (", #) + $ % '* + - . Ǵ (4) LMM ኳᔕճ౗ ೸ၸ΢ॊត౽໨Ϸᒿᐒ໨ܨှаϷ᠄жǴёीᆉόӕය໔ϐ LMM ኳࠠΠჹ ኧதᄊᇻයճ౗ϐኳᔕၡ৩Ǵࡺటளډ LMM ኳࠠΠϐᇻයճ౗ኳᔕၡ৩໻ሡჹ ߻ޣڗࡰኧջёளϐǶ 4 ǵ ౜ߎࢬໆϣකݤ ਥᏵኳᔕрϐ Libor 3M ճ౗ԔጕǴךॺёа௢Ꮴрჹᔈϐ CMS ճ౗ၡ৩Ƕ٠٩ Ᏽ΢΋ക࿯܌௢Ꮴрϐճ౗ϣකၸำीᆉр؂΋ය໔ϣǴ CMS ճ౗ပܭճ౗୔໔ϐ КٯǶ CCDRA ϐ౜ߎࢬ࣬྽ܭࠨऊပܭճ౗୔໔Ϻኧ४΢б৲ճ౗ǴӢԜ೸ၸ΢ॊ܌ ीᆉрϐ؂΋ය໔ϐပΕ୔໔КٯǴךॺёीᆉр؂΋చၡ৩Π CMS ပܭ୔໔ϐϺ ኧǴ٠Ъ٩Ᏽ၀Ϻኧीᆉჹᔈၡ৩Πϐ౜ߎࢬໆǶ</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 ġ˰怆⡆✳⎗⍾㴰⇑䌯Ṍ㎃㈨埻㔯ẞ˱ġ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⃫⭴嫱⇠⁝⇠悐ġ</a:t>
            </a:r>
          </a:p>
          <a:p>
            <a:pPr/>
            <a:r>
              <a:rPr sz="2400" b="1">
                <a:solidFill>
                  <a:srgbClr val="323232"/>
                </a:solidFill>
                <a:latin typeface="微軟正黑體"/>
              </a:rPr>
              <a:t>ġ ġ ġ ġ ġ ġ ġ ġ ġ ġ ġ ġ ġ ġ ġ ġ ġ ġ ġ ġ ġ ġ ġ ġ</a:t>
            </a:r>
          </a:p>
          <a:p>
            <a:pPr/>
            <a:r>
              <a:rPr sz="2400" b="1">
                <a:solidFill>
                  <a:srgbClr val="323232"/>
                </a:solidFill>
                <a:latin typeface="微軟正黑體"/>
              </a:rPr>
              <a:t>13</a:t>
            </a:r>
          </a:p>
          <a:p>
            <a:pPr lvl="1"/>
            <a:r>
              <a:rPr sz="1800">
                <a:solidFill>
                  <a:srgbClr val="323232"/>
                </a:solidFill>
                <a:latin typeface="微軟正黑體"/>
              </a:rPr>
              <a:t>• !,!</a:t>
            </a:r>
          </a:p>
          <a:p>
            <a:pPr lvl="1"/>
            <a:r>
              <a:rPr sz="1800">
                <a:solidFill>
                  <a:srgbClr val="323232"/>
                </a:solidFill>
                <a:latin typeface="微軟正黑體"/>
              </a:rPr>
              <a:t>• !,&amp;</a:t>
            </a:r>
          </a:p>
          <a:p>
            <a:pPr lvl="1"/>
            <a:r>
              <a:rPr sz="1800">
                <a:solidFill>
                  <a:srgbClr val="323232"/>
                </a:solidFill>
                <a:latin typeface="微軟正黑體"/>
              </a:rPr>
              <a:t>• &amp;,!</a:t>
            </a:r>
          </a:p>
          <a:p>
            <a:pPr lvl="1"/>
            <a:r>
              <a:rPr sz="1800">
                <a:solidFill>
                  <a:srgbClr val="323232"/>
                </a:solidFill>
                <a:latin typeface="微軟正黑體"/>
              </a:rPr>
              <a:t>• &amp;</a:t>
            </a:r>
          </a:p>
          <a:p>
            <a:pPr lvl="1"/>
            <a:r>
              <a:rPr sz="1800">
                <a:solidFill>
                  <a:srgbClr val="323232"/>
                </a:solidFill>
                <a:latin typeface="微軟正黑體"/>
              </a:rPr>
              <a:t>• /</a:t>
            </a:r>
          </a:p>
          <a:p>
            <a:pPr lvl="1"/>
            <a:r>
              <a:rPr sz="1800">
                <a:solidFill>
                  <a:srgbClr val="323232"/>
                </a:solidFill>
                <a:latin typeface="微軟正黑體"/>
              </a:rPr>
              <a:t>• &amp;03</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(1) CMS ճ౗௢Ꮴ ਥᏵճ౗ҬඤϦԄۓကǴךॺё೸ၸܨှճ౗ҬඤڰۓᆄϷੌ୏ᆄаीᆉ CMS ճ౗ӵΠǶ (2) ճ౗ϣකݤ ೸ၸ΢ॊኳᔕрϐ CMS ճ౗ၡ৩Ǵीᆉ CMS ճ౗ܭόӕය໔ပܭճ౗୔ ໔ϐКٯǶ</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 ġ˰怆⡆✳⎗⍾㴰⇑䌯Ṍ㎃㈨埻㔯ẞ˱ġ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⃫⭴嫱⇠⁝⇠悐ġ</a:t>
            </a:r>
          </a:p>
          <a:p>
            <a:pPr/>
            <a:r>
              <a:rPr sz="2400" b="1">
                <a:solidFill>
                  <a:srgbClr val="323232"/>
                </a:solidFill>
                <a:latin typeface="微軟正黑體"/>
              </a:rPr>
              <a:t>ġ ġ ġ ġ ġ ġ ġ ġ ġ ġ ġ ġ ġ ġ ġ ġ ġ ġ ġ ġ ġ ġ ġ ġ</a:t>
            </a:r>
          </a:p>
          <a:p>
            <a:pPr/>
            <a:r>
              <a:rPr sz="2400" b="1">
                <a:solidFill>
                  <a:srgbClr val="323232"/>
                </a:solidFill>
                <a:latin typeface="微軟正黑體"/>
              </a:rPr>
              <a:t>14</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(3) ౜ߎࢬໆϣකݤ ೸ၸ΢ॊ܌ளϺኧКٯǴךॺёीᆉрόӕၡ৩Π؂΋ය໔ϐ౜ߎࢬໆǴ٠ ёीᆉрჹᔈၡ৩Πϐ౜ߎࢬໆǶ</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 ġ˰怆⡆✳⎗⍾㴰⇑䌯Ṍ㎃㈨埻㔯ẞ˱ġ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⃫⭴嫱⇠⁝⇠悐ġ</a:t>
            </a:r>
          </a:p>
          <a:p>
            <a:pPr/>
            <a:r>
              <a:rPr sz="2400" b="1">
                <a:solidFill>
                  <a:srgbClr val="323232"/>
                </a:solidFill>
                <a:latin typeface="微軟正黑體"/>
              </a:rPr>
              <a:t>ġ ġ ġ ġ ġ ġ ġ ġ ġ ġ ġ ġ ġ ġ ġ ġ ġ ġ ġ ġ ġ ġ ġ ġ</a:t>
            </a:r>
          </a:p>
          <a:p>
            <a:pPr/>
            <a:r>
              <a:rPr sz="2400" b="1">
                <a:solidFill>
                  <a:srgbClr val="323232"/>
                </a:solidFill>
                <a:latin typeface="微軟正黑體"/>
              </a:rPr>
              <a:t>15</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(4) നλѳБᆾӦьᛥݤ ਥᏵ΢΋λ࿯܌ளౢࠔ౜ߎࢬໆܭόӕၡ৩Πޑ࿯ᗺǴਥᏵനλѳБᆾӦь ᛥݤёаҗډයਔᗺӣ௢ౢࠔܭ౜ߎࢬ࿯ᗺΠޑයఈॶᆶᝩុ࡭ԖሽॶǴ٠Ъ᠄ жрځ໸چሽ਱Ƕ</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 ġ˰怆⡆✳⎗⍾㴰⇑䌯Ṍ㎃㈨埻㔯ẞ˱ġ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⃫⭴嫱⇠⁝⇠悐ġ</a:t>
            </a:r>
          </a:p>
          <a:p>
            <a:pPr/>
            <a:r>
              <a:rPr sz="2400" b="1">
                <a:solidFill>
                  <a:srgbClr val="323232"/>
                </a:solidFill>
                <a:latin typeface="微軟正黑體"/>
              </a:rPr>
              <a:t>ġ ġ ġ ġ ġ ġ ġ ġ ġ ġ ġ ġ ġ ġ ġ ġ ġ ġ ġ ġ ġ ġ ġ ġ</a:t>
            </a:r>
          </a:p>
          <a:p>
            <a:pPr/>
            <a:r>
              <a:rPr sz="2400" b="1">
                <a:solidFill>
                  <a:srgbClr val="323232"/>
                </a:solidFill>
                <a:latin typeface="微軟正黑體"/>
              </a:rPr>
              <a:t>16</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ჴሞጄٯ</a:t>
            </a:r>
          </a:p>
        </p:txBody>
      </p:sp>
      <p:sp>
        <p:nvSpPr>
          <p:cNvPr id="5" name="TextBox 4"/>
          <p:cNvSpPr txBox="1"/>
          <p:nvPr/>
        </p:nvSpPr>
        <p:spPr>
          <a:xfrm>
            <a:off x="360000" y="1008000"/>
            <a:ext cx="11473200" cy="5670000"/>
          </a:xfrm>
          <a:prstGeom prst="rect">
            <a:avLst/>
          </a:prstGeom>
          <a:noFill/>
        </p:spPr>
        <p:txBody>
          <a:bodyPr wrap="square">
            <a:spAutoFit/>
          </a:bodyPr>
          <a:lstStyle/>
          <a:p>
            <a:pPr lvl="1"/>
            <a:r>
              <a:rPr sz="1800">
                <a:solidFill>
                  <a:srgbClr val="323232"/>
                </a:solidFill>
                <a:latin typeface="微軟正黑體"/>
              </a:rPr>
              <a:t>• ˰怆⡆✳⎗⍾㴰⇑䌯Ṍ㎃㈨埻㔯ẞ˱</a:t>
            </a:r>
          </a:p>
          <a:p>
            <a:pPr lvl="1"/>
            <a:r>
              <a:rPr sz="1800">
                <a:solidFill>
                  <a:srgbClr val="323232"/>
                </a:solidFill>
                <a:latin typeface="微軟正黑體"/>
              </a:rPr>
              <a:t>• ⃫⭴嫱⇠⁝⇠悐</a:t>
            </a:r>
          </a:p>
          <a:p>
            <a:pPr lvl="1"/>
            <a:r>
              <a:rPr sz="1800">
                <a:solidFill>
                  <a:srgbClr val="323232"/>
                </a:solidFill>
                <a:latin typeface="微軟正黑體"/>
              </a:rPr>
              <a:t>• ġ ġ ġ ġ ġ ġ ġ ġ ġ ġ ġ ġ ġ ġ ġ ġ ġ ġ ġ ġ ġ ġ ġ ġ</a:t>
            </a:r>
          </a:p>
          <a:p>
            <a:pPr lvl="1"/>
            <a:r>
              <a:rPr sz="1800">
                <a:solidFill>
                  <a:srgbClr val="323232"/>
                </a:solidFill>
                <a:latin typeface="微軟正黑體"/>
              </a:rPr>
              <a:t>• 17</a:t>
            </a:r>
          </a:p>
          <a:p>
            <a:pPr/>
            <a:r>
              <a:rPr sz="2400" b="1">
                <a:solidFill>
                  <a:srgbClr val="323232"/>
                </a:solidFill>
                <a:latin typeface="微軟正黑體"/>
              </a:rPr>
              <a:t>(1)</a:t>
            </a:r>
          </a:p>
          <a:p>
            <a:pPr/>
            <a:r>
              <a:rPr sz="2400" b="1">
                <a:solidFill>
                  <a:srgbClr val="323232"/>
                </a:solidFill>
                <a:latin typeface="微軟正黑體"/>
              </a:rPr>
              <a:t>೛ۓၗ਑่ᄬ</a:t>
            </a:r>
          </a:p>
          <a:p>
            <a:pPr/>
            <a:r>
              <a:rPr sz="2400" b="1">
                <a:solidFill>
                  <a:srgbClr val="323232"/>
                </a:solidFill>
                <a:latin typeface="微軟正黑體"/>
              </a:rPr>
              <a:t>ܭำԄϣ೽೛ۓࠨऊ୷ҁၗ਑ࡕǴҗำԄ᠐ڗѱ൑ၗ਑</a:t>
            </a:r>
          </a:p>
          <a:p>
            <a:pPr/>
            <a:r>
              <a:rPr sz="2400" b="1">
                <a:solidFill>
                  <a:srgbClr val="323232"/>
                </a:solidFill>
                <a:latin typeface="微軟正黑體"/>
              </a:rPr>
              <a:t>(Deposit Data &amp;</a:t>
            </a:r>
          </a:p>
          <a:p>
            <a:pPr/>
            <a:r>
              <a:rPr sz="2400" b="1">
                <a:solidFill>
                  <a:srgbClr val="323232"/>
                </a:solidFill>
                <a:latin typeface="微軟正黑體"/>
              </a:rPr>
              <a:t>Swap Data)</a:t>
            </a:r>
          </a:p>
          <a:p>
            <a:pPr/>
            <a:r>
              <a:rPr sz="2400" b="1">
                <a:solidFill>
                  <a:srgbClr val="323232"/>
                </a:solidFill>
                <a:latin typeface="微軟正黑體"/>
              </a:rPr>
              <a:t>Ƕ</a:t>
            </a:r>
          </a:p>
          <a:p>
            <a:pPr/>
            <a:r>
              <a:rPr sz="2400" b="1">
                <a:solidFill>
                  <a:srgbClr val="323232"/>
                </a:solidFill>
                <a:latin typeface="微軟正黑體"/>
              </a:rPr>
              <a:t>(2)</a:t>
            </a:r>
          </a:p>
          <a:p>
            <a:pPr/>
            <a:r>
              <a:rPr sz="2400" b="1">
                <a:solidFill>
                  <a:srgbClr val="323232"/>
                </a:solidFill>
                <a:latin typeface="微軟正黑體"/>
              </a:rPr>
              <a:t>ѱ൑ݢ୏ࡋ᠐ڗ</a:t>
            </a:r>
          </a:p>
          <a:p>
            <a:pPr/>
            <a:r>
              <a:rPr sz="2400" b="1">
                <a:solidFill>
                  <a:srgbClr val="323232"/>
                </a:solidFill>
                <a:latin typeface="微軟正黑體"/>
              </a:rPr>
              <a:t>җำԄ᠐ڗѱ൑ճ౗Ҭඤᒧ᏷៾ၗ਑</a:t>
            </a:r>
          </a:p>
          <a:p>
            <a:pPr/>
            <a:r>
              <a:rPr sz="2400" b="1">
                <a:solidFill>
                  <a:srgbClr val="323232"/>
                </a:solidFill>
                <a:latin typeface="微軟正黑體"/>
              </a:rPr>
              <a:t>(Swaption Vol)</a:t>
            </a:r>
          </a:p>
          <a:p>
            <a:pPr/>
            <a:r>
              <a:rPr sz="2400" b="1">
                <a:solidFill>
                  <a:srgbClr val="323232"/>
                </a:solidFill>
                <a:latin typeface="微軟正黑體"/>
              </a:rPr>
              <a:t>Ƕ</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(3) LMM ኳࠠѱ൑ਠྗ ೸ၸ LMM ኳࠠ୺Չѱ൑ਠྗǴ٠૶ᒵځኳࠠୖኧǶ (4) LMM ճ౗ኳᔕ ೸ၸ΢ॊѱ൑ਠྗୖኧኳᔕрᇻයճ౗ၡ৩Ƕ</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 ġ˰怆⡆✳⎗⍾㴰⇑䌯Ṍ㎃㈨埻㔯ẞ˱ġ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⃫⭴嫱⇠⁝⇠悐ġ</a:t>
            </a:r>
          </a:p>
          <a:p>
            <a:pPr/>
            <a:r>
              <a:rPr sz="2400" b="1">
                <a:solidFill>
                  <a:srgbClr val="323232"/>
                </a:solidFill>
                <a:latin typeface="微軟正黑體"/>
              </a:rPr>
              <a:t>ġ ġ ġ ġ ġ ġ ġ ġ ġ ġ ġ ġ ġ ġ ġ ġ ġ ġ ġ ġ ġ ġ ġ ġ</a:t>
            </a:r>
          </a:p>
          <a:p>
            <a:pPr/>
            <a:r>
              <a:rPr sz="2400" b="1">
                <a:solidFill>
                  <a:srgbClr val="323232"/>
                </a:solidFill>
                <a:latin typeface="微軟正黑體"/>
              </a:rPr>
              <a:t>18</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(5) CMS ճ౗௢Ꮴ ٩Ᏽόӕճ౗ၡ৩ीᆉ؂చၡ৩ჹᔈϐ CMS ճ౗ၡ৩Ƕ (6) CF Analysis ीᆉ CDRA ࠨऊ౜ߎࢬϷό֖᠑ӣ៾౛ፕሽ਱Ƕ</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 ġ˰怆⡆✳⎗⍾㴰⇑䌯Ṍ㎃㈨埻㔯ẞ˱ġ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⃫⭴嫱⇠⁝⇠悐ġ</a:t>
            </a:r>
          </a:p>
          <a:p>
            <a:pPr/>
            <a:r>
              <a:rPr sz="2400" b="1">
                <a:solidFill>
                  <a:srgbClr val="323232"/>
                </a:solidFill>
                <a:latin typeface="微軟正黑體"/>
              </a:rPr>
              <a:t>ġ ġ ġ ġ ġ ġ ġ ġ ġ ġ ġ ġ ġ ġ ġ ġ ġ ġ ġ ġ ġ ġ ġ ġ</a:t>
            </a:r>
          </a:p>
          <a:p>
            <a:pPr/>
            <a:r>
              <a:rPr sz="2400" b="1">
                <a:solidFill>
                  <a:srgbClr val="323232"/>
                </a:solidFill>
                <a:latin typeface="微軟正黑體"/>
              </a:rPr>
              <a:t>19</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(7) LSMC ೸ၸ LSMC ݤीᆉ CCDRA ౛ፕሽ਱Ƕ</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 ġ˰怆⡆✳⎗⍾㴰⇑䌯Ṍ㎃㈨埻㔯ẞ˱ġ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⃫⭴嫱⇠⁝⇠悐ġ</a:t>
            </a:r>
          </a:p>
          <a:p>
            <a:pPr/>
            <a:r>
              <a:rPr sz="2400" b="1">
                <a:solidFill>
                  <a:srgbClr val="323232"/>
                </a:solidFill>
                <a:latin typeface="微軟正黑體"/>
              </a:rPr>
              <a:t>ġ ġ ġ ġ ġ ġ ġ ġ ġ ġ ġ ġ ġ ġ ġ ġ ġ ġ ġ ġ ġ ġ ġ ġ</a:t>
            </a:r>
          </a:p>
          <a:p>
            <a:pPr/>
            <a:r>
              <a:rPr sz="2400" b="1">
                <a:solidFill>
                  <a:srgbClr val="323232"/>
                </a:solidFill>
                <a:latin typeface="微軟正黑體"/>
              </a:rPr>
              <a:t>20</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l ीᆉጄٯ ଷ೛วՉܭ 2022 ԃ 3 Д 31 ВǴวՉය໔ 5 ԃǴএ่ය໔ 1 ԃǴډයВࣁ 2027 ԃ 3 Д 31 ВǴࡰ኱ճ౗ࣁ 2 ԃය CMS ճ౗ϐ؂В୔໔ी৲ౢࠔǴࠨऊచҹӵಃ΋ ക࿯܌ॊǴጄٯࠨऊୖኧӵΠǴଷ೛ຑሽВࣁ 2022 ԃ 3 Д 31 ВǴଷ೛ࡰ኱ճ౗ ຯ΢΋ԛб৲ය໔ϣԖ 0 ВပΕी৲୔໔Ǻ ୖኧжဦ ୖኧӜᆀ ୖኧϣ৒ ᒡ Ε ୖ ኧ Today ຑሽВ 2022/3/31 Issue Date วՉВ 2022/3/31 Maturity ډයВ 2027/3/31 Nominal ӜҞҁߎ 100 Coupon б৲ճ౗ 1.65% B/U ΢ / Πज़ճ౗ 0.0 % / 4.25 % Last fixing ࡰ኱ճ౗ന ൔሽ 2.55 % In Days ΢΋ပΕ୔ ໔ኧ 0 Credit spread ߞҔຠН 0.5 %</a:t>
            </a:r>
          </a:p>
        </p:txBody>
      </p:sp>
      <p:sp>
        <p:nvSpPr>
          <p:cNvPr id="5" name="TextBox 4"/>
          <p:cNvSpPr txBox="1"/>
          <p:nvPr/>
        </p:nvSpPr>
        <p:spPr>
          <a:xfrm>
            <a:off x="360000" y="1008000"/>
            <a:ext cx="11473200" cy="5670000"/>
          </a:xfrm>
          <a:prstGeom prst="rect">
            <a:avLst/>
          </a:prstGeom>
          <a:noFill/>
        </p:spPr>
        <p:txBody>
          <a:bodyPr wrap="square">
            <a:spAutoFit/>
          </a:bodyPr>
          <a:lstStyle/>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3200" cy="900000"/>
          </a:xfrm>
          <a:prstGeom prst="rect">
            <a:avLst/>
          </a:prstGeom>
          <a:noFill/>
        </p:spPr>
        <p:txBody>
          <a:bodyPr wrap="square">
            <a:spAutoFit/>
          </a:bodyPr>
          <a:lstStyle/>
          <a:p/>
        </p:txBody>
      </p:sp>
      <p:sp>
        <p:nvSpPr>
          <p:cNvPr id="3" name="Rectangle 2"/>
          <p:cNvSpPr/>
          <p:nvPr/>
        </p:nvSpPr>
        <p:spPr>
          <a:xfrm>
            <a:off x="0" y="0"/>
            <a:ext cx="12193200" cy="900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 y="72000"/>
            <a:ext cx="11833200" cy="756000"/>
          </a:xfrm>
          <a:prstGeom prst="rect">
            <a:avLst/>
          </a:prstGeom>
          <a:noFill/>
        </p:spPr>
        <p:txBody>
          <a:bodyPr wrap="square">
            <a:spAutoFit/>
          </a:bodyPr>
          <a:lstStyle/>
          <a:p>
            <a:pPr algn="l"/>
            <a:r>
              <a:rPr sz="3200" b="1">
                <a:solidFill>
                  <a:srgbClr val="FFFFFF"/>
                </a:solidFill>
                <a:latin typeface="微軟正黑體"/>
              </a:rPr>
              <a:t>Swap_curve Swap Ԕጕၗ ਑ ! ŕŦųŮ ŊůŴŵŕźűŦ ŃŪť łŴŬ ŎŪť ĴġŎŐ ńłŔŉ ıįĺķĲĶĸ ıįĺķĲĶĸ ıįĺķĲĶĸ ĳġŚœ ŔŘłő ĳįĶĵĺĹ ĳįĶĶĸ ĳįĶĶĴĵ ĴġŚœ ŔŘłő ĳįķĵķĲĳ ĳįķĶĺĺĹ ĳįķĶĴıĶ ĵġŚœ ŔŘłő ĳįĶĺĴıĸ ĳįķıĳĶĴ ĳįĶĺĸĹ ĶġŚœ ŔŘłő ĳįĶĲĸıķ ĳįĶĳĹķĵ ĳįĶĳĳĹĶ ķġŚœ ŔŘłő ĳįĵĸĵķķ ĳįĵĹĶĴĵ ĳįĵĹ ĸġŚœ ŔŘłő ĳįĵĵĹıĴ ĳįĵĶķĶĸ ĳįĵĶĳĴ ĹġŚœ ŔŘłő ĳįĵĳķĴĸ ĳįĵĴĴķĴ ĳįĵĴ ĺġŚœ ŔŘłő ĳįĵĲıķĵ ĳįĵĲĹĲķ ĳįĵĲĵĵ ĲıġŚœ ŔŘłő ĳįĵıĳĶĹ ĳįĵĲıĵĳ ĳįĵıķĶ ĲĲġŚœ ŔŘłő ĳįĵıĴĴĺ ĳįĵĲĳķĲ ĳįĵıĹ ĲĳġŚœ ŔŘłő ĳįĵııĹĴ ĳįĵıĸĲĹ ĳįĵıĵııĶ ĲĶġŚœ ŔŘłő ĳįĴĺķķĶ ĳįĵıĳķĶ ĳįĴĺĺķĶ ĳıġŚœ ŔŘłő ĳįĴĸķĳĺ ĳįĴĹĶĶĲ ĳįĴĹıĺ ĳĶġŚœ ŔŘłő ĳįĴĲĵĶĳ ĳįĴĳĳĵĸ ĳįĴĲĹĵĺĶ ĴıġŚœ ŔŘłő ĳįĳĵĹĵĴ ĳįĳĶĸĵĸ ĳįĳĶĳĺĶ ĵıġŚœ ŔŘłő ĳįıĹĴĶĹ ĳįıĺıĵĴ ĳįıĹĸııĶ ĶıġŚœ ŔŘłő ĲįĺĲĴĸĴ ĲįĺĵĶĲĲ Ĳįĺĳĺĵĳ ᒡ р ୖ ኧ CCDRA CCDRA Value 82.0232087867782</a:t>
            </a:r>
          </a:p>
        </p:txBody>
      </p:sp>
      <p:sp>
        <p:nvSpPr>
          <p:cNvPr id="5" name="TextBox 4"/>
          <p:cNvSpPr txBox="1"/>
          <p:nvPr/>
        </p:nvSpPr>
        <p:spPr>
          <a:xfrm>
            <a:off x="360000" y="1008000"/>
            <a:ext cx="11473200" cy="5670000"/>
          </a:xfrm>
          <a:prstGeom prst="rect">
            <a:avLst/>
          </a:prstGeom>
          <a:noFill/>
        </p:spPr>
        <p:txBody>
          <a:bodyPr wrap="square">
            <a:spAutoFit/>
          </a:bodyPr>
          <a:lstStyle/>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 ġ˰怆⡆✳⎗⍾㴰⇑䌯Ṍ㎃㈨埻㔯ẞ˱ġ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ġ</a:t>
            </a:r>
          </a:p>
          <a:p>
            <a:pPr/>
            <a:r>
              <a:rPr sz="2400" b="1">
                <a:solidFill>
                  <a:srgbClr val="323232"/>
                </a:solidFill>
                <a:latin typeface="微軟正黑體"/>
              </a:rPr>
              <a:t>⃫⭴嫱⇠⁝⇠悐ġ</a:t>
            </a:r>
          </a:p>
          <a:p>
            <a:pPr/>
            <a:r>
              <a:rPr sz="2400" b="1">
                <a:solidFill>
                  <a:srgbClr val="323232"/>
                </a:solidFill>
                <a:latin typeface="微軟正黑體"/>
              </a:rPr>
              <a:t>ġ ġ ġ ġ ġ ġ ġ ġ ġ ġ ġ ġ ġ ġ ġ ġ ġ ġ ġ ġ ġ ġ ġ ġ</a:t>
            </a:r>
          </a:p>
          <a:p>
            <a:pPr/>
            <a:r>
              <a:rPr sz="2400" b="1">
                <a:solidFill>
                  <a:srgbClr val="323232"/>
                </a:solidFill>
                <a:latin typeface="微軟正黑體"/>
              </a:rPr>
              <a:t>22</a:t>
            </a:r>
          </a:p>
        </p:txBody>
      </p:sp>
      <p:sp>
        <p:nvSpPr>
          <p:cNvPr id="6" name="TextBox 5"/>
          <p:cNvSpPr txBox="1"/>
          <p:nvPr/>
        </p:nvSpPr>
        <p:spPr>
          <a:xfrm>
            <a:off x="11293200" y="6570000"/>
            <a:ext cx="792000" cy="251999"/>
          </a:xfrm>
          <a:prstGeom prst="rect">
            <a:avLst/>
          </a:prstGeom>
          <a:noFill/>
        </p:spPr>
        <p:txBody>
          <a:bodyPr wrap="none">
            <a:spAutoFit/>
          </a:bodyPr>
          <a:lstStyle/>
          <a:p>
            <a:pPr algn="r"/>
            <a:r>
              <a:rPr sz="1000">
                <a:solidFill>
                  <a:srgbClr val="969696"/>
                </a:solidFill>
                <a:latin typeface="微軟正黑體"/>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