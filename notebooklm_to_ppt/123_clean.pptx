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6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129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</a:rPr>
              <a:t>破除黑箱與技術負債: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29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5"/>
                </a:solidFill>
                <a:latin typeface="微軟正黑體"/>
              </a:rPr>
              <a:t>生成式 Al賦能之金融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201" y="108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微軟正黑體"/>
              </a:rPr>
              <a:t>1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588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E6E6E"/>
                </a:solidFill>
                <a:latin typeface="微軟正黑體"/>
              </a:rPr>
              <a:t>NotebookLM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404000"/>
            <a:ext cx="114732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404000"/>
            <a:ext cx="114732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440000"/>
            <a:ext cx="11257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評價模型平台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818000"/>
            <a:ext cx="112572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打造華爾街等級的 Al量化工程團隊,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推動獨立驗證與文檔自動化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凱基金控風險管理處風險架構+市場風險組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2026 年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6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129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</a:rPr>
              <a:t>專案報告摘要(Executive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29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5"/>
                </a:solidFill>
                <a:latin typeface="微軟正黑體"/>
              </a:rPr>
              <a:t>現況挑戰 The Challenge) 解決方案 The Solution) 商業價值 Business Value)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201" y="108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微軟正黑體"/>
              </a:rPr>
              <a:t>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588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E6E6E"/>
                </a:solidFill>
                <a:latin typeface="微軟正黑體"/>
              </a:rPr>
              <a:t>NotebookLM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404000"/>
            <a:ext cx="56466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404000"/>
            <a:ext cx="56466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440000"/>
            <a:ext cx="54306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(Codeto Text)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818000"/>
            <a:ext cx="54306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6600" y="1404000"/>
            <a:ext cx="56466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6600" y="1404000"/>
            <a:ext cx="56466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4600" y="1440000"/>
            <a:ext cx="54306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6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129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</a:rPr>
              <a:t>監管環境下的嚴峻考驗 : 我們正面臨T知其然,不知其所以然] 必須確認學理合理性 的巨大風險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29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5"/>
                </a:solidFill>
                <a:latin typeface="微軟正黑體"/>
              </a:rPr>
              <a:t>數值正確性 以及 P&amp;L的可解釋性(反推 Delta, Gamma, lega等 Greeks)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201" y="108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微軟正黑體"/>
              </a:rPr>
              <a:t>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588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E6E6E"/>
                </a:solidFill>
                <a:latin typeface="微軟正黑體"/>
              </a:rPr>
              <a:t>0 面臨合規紅燈 Model NotebookLM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404000"/>
            <a:ext cx="56466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404000"/>
            <a:ext cx="56466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440000"/>
            <a:ext cx="54306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結果:無法建立挑戰者模型 Challenger 與數值方法細節. 僅有高階手冊 缺乏 Step-by-Step賁作邏輯 廠商拒絕提供底層程式碼 路徑一:外購系統的黑箱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818000"/>
            <a:ext cx="54306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6600" y="1404000"/>
            <a:ext cx="56466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6600" y="1404000"/>
            <a:ext cx="56466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4600" y="1440000"/>
            <a:ext cx="54306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結果:單點故障風險 ley-person dependency 拼湊且缺乏版本控制 無數學邏輯說明'淪為 開發時程緊迫'開源套件 T只有原作者懂_的孤島%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4600" y="1818000"/>
            <a:ext cx="54306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路徑二:內部系統的技術負債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6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129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</a:rPr>
              <a:t>傳統解決方案的困境:高昂且低效的 T人工逆向工程]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29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5"/>
                </a:solidFill>
                <a:latin typeface="微軟正黑體"/>
              </a:rPr>
              <a:t>時間成本 Time 數學邏輯 0 外購需曠日廢時溝通;自建需 逐行閱讀無註解程式碼,反推 (每單一樸型|系統) 耗損 :動輒數月至半年以上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201" y="108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微軟正黑體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588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E6E6E"/>
                </a:solidFill>
                <a:latin typeface="微軟正黑體"/>
              </a:rPr>
              <a:t>我們需要範式轉移. NotebookLM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404000"/>
            <a:ext cx="37044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404000"/>
            <a:ext cx="37044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440000"/>
            <a:ext cx="3488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人力成本 FTE 品質風險 Risk 高階 Quant 人才的工時應投入於創新策略與核心風控 行人工解譯.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4400" y="1404000"/>
            <a:ext cx="37044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4400" y="1404000"/>
            <a:ext cx="37044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400" y="1440000"/>
            <a:ext cx="3488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資深財務工程師 fQuant)進 指派具高度數學與程式造諂的 人工反推易錯;撰寫技術文件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800" y="1404000"/>
            <a:ext cx="37044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8800" y="1404000"/>
            <a:ext cx="37044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6800" y="1440000"/>
            <a:ext cx="3488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新策略研發% 足稽核標準% 而非繁瑣的程式碼解譯 耗損:極高專案人力成本, 耗損:合規風險居高不下, 導致高階人才倦怠,排擠創 文件品質參差不齊,無法滿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6800" y="1818000"/>
            <a:ext cx="34884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7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7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6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129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</a:rPr>
              <a:t>創新解決方案:引入 TAI虛擬財務工程師] 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29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5"/>
                </a:solidFill>
                <a:latin typeface="微軟正黑體"/>
              </a:rPr>
              <a:t>功能1:文獻轉程式碼 功能2:程式碼轉技術文件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201" y="108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微軟正黑體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588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E6E6E"/>
                </a:solidFill>
                <a:latin typeface="微軟正黑體"/>
              </a:rPr>
              <a:t>NotebookLM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404000"/>
            <a:ext cx="37044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404000"/>
            <a:ext cx="37044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440000"/>
            <a:ext cx="3488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輪出:庇眉評價程式碼 Challenger Model) 學術論文 破解外購黑箱 (Text-to Code|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4400" y="1404000"/>
            <a:ext cx="37044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4400" y="1404000"/>
            <a:ext cx="37044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400" y="1440000"/>
            <a:ext cx="3488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核心 Al:具備隨機微積分 (華爾街賁深 Quant水準 商品定價與 Python|C++開發能力 衍生性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400" y="1818000"/>
            <a:ext cx="34884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800" y="1404000"/>
            <a:ext cx="37044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8800" y="1404000"/>
            <a:ext cx="37044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6800" y="1440000"/>
            <a:ext cx="3488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Code-to Text| (含數學公式與流程圖) fLegacy Code| 輪入:內部遣留的複雜程式碼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6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129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</a:rPr>
              <a:t>針對僅有 核心功能(1) 高階使用手冊_的外部係統 透過 Al自動補足數值解法% : Text-to Code二徹底破解外購系統黑箱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29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5"/>
                </a:solidFill>
                <a:latin typeface="微軟正黑體"/>
              </a:rPr>
              <a:t>Step1:知識吸收 IIngestion] Step 2:學理推導 Generation] Step3:程式碼生成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201" y="108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微軟正黑體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588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E6E6E"/>
                </a:solidFill>
                <a:latin typeface="微軟正黑體"/>
              </a:rPr>
              <a:t>順利完 重現定價邏輯與 Greeks 限差分法| 0 成 P&amp;L Explainability驗證 NotebookLM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404000"/>
            <a:ext cx="37044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404000"/>
            <a:ext cx="37044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440000"/>
            <a:ext cx="3488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學理文獻% 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4400" y="1404000"/>
            <a:ext cx="37044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4400" y="1404000"/>
            <a:ext cx="37044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400" y="1440000"/>
            <a:ext cx="3488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Al自動推導文獻中的數學摸型 核心偵值:補足手冊中缺失的數值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400" y="1818000"/>
            <a:ext cx="34884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800" y="1404000"/>
            <a:ext cx="37044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8800" y="1404000"/>
            <a:ext cx="37044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6800" y="1440000"/>
            <a:ext cx="3488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直接產出對應的底層評偵程式碼 成果 :臉譴團隊可輸入市場參數'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6800" y="1818000"/>
            <a:ext cx="34884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6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129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</a:rPr>
              <a:t>透過 Al自動反推無文件程式碼背俊的數學邏輯 核心功能(2): Code-to-Text一終結自建系統的技術負債 生成黃金標準手冊%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29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5"/>
                </a:solidFill>
                <a:latin typeface="微軟正黑體"/>
              </a:rPr>
              <a:t>Step 1:程式碼解析 Parsing ) Step 2:邏輯反推 Reverse Engineering Step3:嚴謹手冊生成 Documentation]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201" y="108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微軟正黑體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588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E6E6E"/>
                </a:solidFill>
                <a:latin typeface="微軟正黑體"/>
              </a:rPr>
              <a:t>成果:消減單點故障風險'成為未來 0 人員交接與內部稽核的標準化文件 NotebookLM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404000"/>
            <a:ext cx="37044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404000"/>
            <a:ext cx="37044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440000"/>
            <a:ext cx="3488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Al深入請取 理解繁雜且拼淺的評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4400" y="1404000"/>
            <a:ext cx="37044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4400" y="1404000"/>
            <a:ext cx="37044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400" y="1440000"/>
            <a:ext cx="3488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模型輿財務邇輯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400" y="1818000"/>
            <a:ext cx="34884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800" y="1404000"/>
            <a:ext cx="37044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8800" y="1404000"/>
            <a:ext cx="37044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6800" y="1440000"/>
            <a:ext cx="34884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流程圓的系統技術手冊. 二 自動生成排版嚴謹~包含數學公式與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6800" y="1818000"/>
            <a:ext cx="34884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Gcdr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+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3;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6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129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</a:rPr>
              <a:t>預期效益: 推動風控自動化與智慧化的新紀元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29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5"/>
                </a:solidFill>
                <a:latin typeface="微軟正黑體"/>
              </a:rPr>
              <a:t>數月一數天 合規與風控 知識賁產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201" y="108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微軟正黑體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588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E6E6E"/>
                </a:solidFill>
                <a:latin typeface="微軟正黑體"/>
              </a:rPr>
              <a:t>NotebookLM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404000"/>
            <a:ext cx="56466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404000"/>
            <a:ext cx="56466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440000"/>
            <a:ext cx="54306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的風險洞宗與決策. ICost&amp; Time| 深 Quant專注於高價值 模型風險完全可挫 Compliance &amp; Risk|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818000"/>
            <a:ext cx="54306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6600" y="1404000"/>
            <a:ext cx="56466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6600" y="1404000"/>
            <a:ext cx="56466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4600" y="1440000"/>
            <a:ext cx="54306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標準化的智財賁產 KnowledgeIP) 式碼中的遇輯 轉化為 的企業紙金融工程技術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4600" y="1818000"/>
            <a:ext cx="54306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0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82828"/>
                </a:solidFill>
                <a:latin typeface="微軟正黑體"/>
              </a:rPr>
              <a:t>•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6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129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</a:rPr>
              <a:t>採取敏捷與漸進式導入'確保風險可控與效益最大化 實施階段與時程規劃 (Implementation Roadmap)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29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CF5"/>
                </a:solidFill>
                <a:latin typeface="微軟正黑體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5201" y="108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微軟正黑體"/>
              </a:rPr>
              <a:t>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588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E6E6E"/>
                </a:solidFill>
                <a:latin typeface="微軟正黑體"/>
              </a:rPr>
              <a:t>NotebookLM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404000"/>
            <a:ext cx="11473200" cy="5076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404000"/>
            <a:ext cx="114732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440000"/>
            <a:ext cx="11257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Model Usage Investigation)一2個月 (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129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軟正黑體"/>
              </a:rPr>
              <a:t>&amp;6 評價系統的透明度與可解釋性,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5201" y="108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微軟正黑體"/>
              </a:rPr>
              <a:t>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6588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E6E6E"/>
                </a:solidFill>
                <a:latin typeface="微軟正黑體"/>
              </a:rPr>
              <a:t>NotebookLM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5646600" cy="5400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1080000"/>
            <a:ext cx="56466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116000"/>
            <a:ext cx="54306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引生成式 Al平台. 不僅是技術升級, 理深厚的`虛挽量化專家_. 我們將舉消減長期困擾的黑箱痛點與技術負債.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6600" y="1080000"/>
            <a:ext cx="5646600" cy="5400000"/>
          </a:xfrm>
          <a:prstGeom prst="rect">
            <a:avLst/>
          </a:prstGeom>
          <a:solidFill>
            <a:srgbClr val="F0F2F8"/>
          </a:solidFill>
          <a:ln w="9525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6600" y="1080000"/>
            <a:ext cx="5646600" cy="342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4600" y="1116000"/>
            <a:ext cx="54306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軟正黑體"/>
              </a:rPr>
              <a:t>更是為團隊配備了一位不知疲倦 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